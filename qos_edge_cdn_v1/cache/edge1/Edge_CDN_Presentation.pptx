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9" d="100"/>
          <a:sy n="89" d="100"/>
        </p:scale>
        <p:origin x="43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066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this presentation introduces an Edge-Based Content Delivery Network built using distributed edge servers, a lightweight HTTP-based edge computing architecture designed to make content delivery faster and more efficient.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CDN is a distributed network of servers that deliver content closer to users. Traditional centralized architectures route every request to one origin server, causing high latency, heavy server load, network congestion, and poor quality of experience for distant users. Our proposed solution places multiple edge servers between clients and the origin to cut response time and spread out traffic.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project's objectives are to design a lightweight edge CDN architecture, implement one Global Server plus three Edge Servers, support multiple simultaneous clients, and reduce both access latency and Global Server workload. We also aim to demonstrate HTTP-based distributed communication and show how edge computing improves scalability.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clients send HTTP requests over a shared mobile hotspot LAN. These requests reach Laptop 2, which hosts three edge servers on ports 8001, 8002, and 8003, each responsible for a distinct slice of the image dataset. Edge servers communicate with Laptop 1, the Global Server on port 5000, which holds the complete dataset of 21 images. All communication uses plain HTTP, with no HTTPS or TLS in this setup.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hardware side, Laptop 1 hosts the Global Server, Laptop 2 hosts all three Edge Servers, and one or more additional laptops act as clients. On the software side, the system is built entirely in Python 3 using Flask for the HTTP servers and the Requests library for client and inter-server calls, running over TCP/IP on Windows, developed in VS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client's HTTP request first reaches an edge server, which checks whether it owns the requested image. If it does, the image is served directly. If not, the request is forwarded to the correct edge. That edge checks its cache: on a cache hit, it returns the image immediately; on a cache miss, it requests the image from the Global Server, downloads it, stores it in its own cache, and then returns it to the client.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edge server owns a fixed slice of the image dataset: Edge 1 on port 8001 serves images 1 through 7, Edge 2 on port 8002 serves images 8 through 14, and Edge 3 on port 8003 serves images 15 through 21. Every edge server receives HTTP requests, serves cached content, retrieves missing content from the Global Server, and forwards requests to the correct edge server when it doesn't own the requested image.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client requesting 12.jpg. On the first request, Edge 1 forwards it to Edge 2, which experiences a cache miss, fetches the image from the Global Server, caches it, and returns it to the client. On a second request for the same image, Edge 2 now has a cache hit and returns the image instantly without contacting the Global Server, illustrating how caching improves response time over repeated requests.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built with Python 3 and the Flask framework, communicating over HTTP on TCP/IP. Clients use the Python Requests library to make calls. Caching is implemented using the local file system, the dataset is a repository of images, and the whole project was developed using Visual Studio Code.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delivers reduced response time, lower Global Server workload, and truly distributed content delivery. It remains lightweight and easy to deploy, supports multiple simultaneous clients, and its modular design makes it easy to scale by adding more edge servers, all at a low deployment cost.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includes smarter caching with dynamic LRU and LFU replacement policies, Docker containerization for easier deployment, and adding HTTPS/TLS for secure communication. We also plan to introduce a load balancer, DNS-based edge selection, full cloud deployment, a live performance dashboard, and eventually AI-based cache prediction to further optimize content delivery.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successfully designed and implemented a lightweight Edge CDN using one Global Server and three Edge Servers. HTTP-based distributed communication reduced access latency and Global Server load, and the cache hit/cache miss mechanism proved efficient and scalable. This work lays a strong foundation for future enhancements like intelligent caching, load balancing, and secure cloud deployment. Thank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1.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0.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png"/><Relationship Id="rId10" Type="http://schemas.openxmlformats.org/officeDocument/2006/relationships/image" Target="../media/image17.png"/><Relationship Id="rId4" Type="http://schemas.openxmlformats.org/officeDocument/2006/relationships/image" Target="../media/image5.png"/><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1.png"/><Relationship Id="rId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18.png"/><Relationship Id="rId9"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91"/>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2E86C1">
              <a:alpha val="30000"/>
            </a:srgbClr>
          </a:solidFill>
          <a:ln/>
        </p:spPr>
      </p:sp>
      <p:sp>
        <p:nvSpPr>
          <p:cNvPr id="3" name="Shape 1"/>
          <p:cNvSpPr/>
          <p:nvPr/>
        </p:nvSpPr>
        <p:spPr>
          <a:xfrm>
            <a:off x="10332720" y="4206240"/>
            <a:ext cx="3840480" cy="3840480"/>
          </a:xfrm>
          <a:prstGeom prst="ellipse">
            <a:avLst/>
          </a:prstGeom>
          <a:solidFill>
            <a:srgbClr val="00B4D8">
              <a:alpha val="25000"/>
            </a:srgbClr>
          </a:solidFill>
          <a:ln/>
        </p:spPr>
      </p:sp>
      <p:sp>
        <p:nvSpPr>
          <p:cNvPr id="4" name="Shape 2"/>
          <p:cNvSpPr/>
          <p:nvPr/>
        </p:nvSpPr>
        <p:spPr>
          <a:xfrm>
            <a:off x="-621792" y="4343400"/>
            <a:ext cx="3657600" cy="3657600"/>
          </a:xfrm>
          <a:prstGeom prst="ellipse">
            <a:avLst/>
          </a:prstGeom>
          <a:solidFill>
            <a:srgbClr val="5DADE2">
              <a:alpha val="20000"/>
            </a:srgbClr>
          </a:solidFill>
          <a:ln/>
        </p:spPr>
      </p:sp>
      <p:sp>
        <p:nvSpPr>
          <p:cNvPr id="5" name="Shape 3"/>
          <p:cNvSpPr/>
          <p:nvPr/>
        </p:nvSpPr>
        <p:spPr>
          <a:xfrm>
            <a:off x="640080" y="548640"/>
            <a:ext cx="566928" cy="566928"/>
          </a:xfrm>
          <a:prstGeom prst="ellipse">
            <a:avLst/>
          </a:prstGeom>
          <a:solidFill>
            <a:srgbClr val="2E86C1"/>
          </a:solidFill>
          <a:ln/>
        </p:spPr>
      </p:sp>
      <p:pic>
        <p:nvPicPr>
          <p:cNvPr id="6" name="Image 0" descr="/home/claude/pptx_build/icons/network_FFFFFF.png"/>
          <p:cNvPicPr>
            <a:picLocks noChangeAspect="1"/>
          </p:cNvPicPr>
          <p:nvPr/>
        </p:nvPicPr>
        <p:blipFill>
          <a:blip r:embed="rId3"/>
          <a:stretch>
            <a:fillRect/>
          </a:stretch>
        </p:blipFill>
        <p:spPr>
          <a:xfrm>
            <a:off x="708111" y="616671"/>
            <a:ext cx="430865" cy="430865"/>
          </a:xfrm>
          <a:prstGeom prst="rect">
            <a:avLst/>
          </a:prstGeom>
        </p:spPr>
      </p:pic>
      <p:sp>
        <p:nvSpPr>
          <p:cNvPr id="7" name="Shape 4"/>
          <p:cNvSpPr/>
          <p:nvPr/>
        </p:nvSpPr>
        <p:spPr>
          <a:xfrm>
            <a:off x="1325880" y="822960"/>
            <a:ext cx="384048" cy="384048"/>
          </a:xfrm>
          <a:prstGeom prst="ellipse">
            <a:avLst/>
          </a:prstGeom>
          <a:solidFill>
            <a:srgbClr val="00B4D8"/>
          </a:solidFill>
          <a:ln/>
        </p:spPr>
      </p:sp>
      <p:pic>
        <p:nvPicPr>
          <p:cNvPr id="8" name="Image 1" descr="/home/claude/pptx_build/icons/server_0B3D91.png"/>
          <p:cNvPicPr>
            <a:picLocks noChangeAspect="1"/>
          </p:cNvPicPr>
          <p:nvPr/>
        </p:nvPicPr>
        <p:blipFill>
          <a:blip r:embed="rId4"/>
          <a:stretch>
            <a:fillRect/>
          </a:stretch>
        </p:blipFill>
        <p:spPr>
          <a:xfrm>
            <a:off x="1371966" y="869046"/>
            <a:ext cx="291876" cy="291876"/>
          </a:xfrm>
          <a:prstGeom prst="rect">
            <a:avLst/>
          </a:prstGeom>
        </p:spPr>
      </p:pic>
      <p:sp>
        <p:nvSpPr>
          <p:cNvPr id="9" name="Text 5"/>
          <p:cNvSpPr/>
          <p:nvPr/>
        </p:nvSpPr>
        <p:spPr>
          <a:xfrm>
            <a:off x="746760" y="2217420"/>
            <a:ext cx="10698480" cy="1188720"/>
          </a:xfrm>
          <a:prstGeom prst="rect">
            <a:avLst/>
          </a:prstGeom>
          <a:noFill/>
          <a:ln/>
        </p:spPr>
        <p:txBody>
          <a:bodyPr wrap="square" rtlCol="0" anchor="ctr"/>
          <a:lstStyle/>
          <a:p>
            <a:pPr marL="0" indent="0" algn="l">
              <a:buNone/>
            </a:pPr>
            <a:r>
              <a:rPr lang="en-US" sz="4000" b="1" kern="0" spc="100" dirty="0">
                <a:solidFill>
                  <a:srgbClr val="FFFFFF"/>
                </a:solidFill>
                <a:latin typeface="Cambria" pitchFamily="34" charset="0"/>
                <a:ea typeface="Cambria" pitchFamily="34" charset="-122"/>
                <a:cs typeface="Cambria" pitchFamily="34" charset="-120"/>
              </a:rPr>
              <a:t>EDGE-BASED CONTENT DELIVERY NETWORK</a:t>
            </a:r>
            <a:endParaRPr lang="en-US" sz="4000" dirty="0"/>
          </a:p>
        </p:txBody>
      </p:sp>
      <p:sp>
        <p:nvSpPr>
          <p:cNvPr id="10" name="Text 6"/>
          <p:cNvSpPr/>
          <p:nvPr/>
        </p:nvSpPr>
        <p:spPr>
          <a:xfrm>
            <a:off x="731520" y="3520440"/>
            <a:ext cx="8231325" cy="182880"/>
          </a:xfrm>
          <a:prstGeom prst="rect">
            <a:avLst/>
          </a:prstGeom>
          <a:noFill/>
          <a:ln/>
        </p:spPr>
        <p:txBody>
          <a:bodyPr wrap="square" rtlCol="0" anchor="ctr"/>
          <a:lstStyle/>
          <a:p>
            <a:pPr marL="0" indent="0" algn="l">
              <a:buNone/>
            </a:pPr>
            <a:r>
              <a:rPr lang="en-US" sz="2600" dirty="0">
                <a:solidFill>
                  <a:srgbClr val="5DADE2"/>
                </a:solidFill>
                <a:latin typeface="Cambria" pitchFamily="34" charset="0"/>
                <a:ea typeface="Cambria" pitchFamily="34" charset="-122"/>
                <a:cs typeface="Cambria" pitchFamily="34" charset="-120"/>
              </a:rPr>
              <a:t>(CDN) Using Distributed Edge Servers</a:t>
            </a:r>
            <a:endParaRPr lang="en-US" sz="2600" dirty="0"/>
          </a:p>
        </p:txBody>
      </p:sp>
      <p:sp>
        <p:nvSpPr>
          <p:cNvPr id="11" name="Text 7"/>
          <p:cNvSpPr/>
          <p:nvPr/>
        </p:nvSpPr>
        <p:spPr>
          <a:xfrm>
            <a:off x="731520" y="3794760"/>
            <a:ext cx="9601200" cy="548640"/>
          </a:xfrm>
          <a:prstGeom prst="rect">
            <a:avLst/>
          </a:prstGeom>
          <a:noFill/>
          <a:ln/>
        </p:spPr>
        <p:txBody>
          <a:bodyPr wrap="square" rtlCol="0" anchor="ctr"/>
          <a:lstStyle/>
          <a:p>
            <a:pPr marL="0" indent="0" algn="l">
              <a:buNone/>
            </a:pPr>
            <a:r>
              <a:rPr lang="en-US" sz="1600" i="1" dirty="0">
                <a:solidFill>
                  <a:srgbClr val="F4F8FC"/>
                </a:solidFill>
                <a:latin typeface="Calibri" pitchFamily="34" charset="0"/>
                <a:ea typeface="Calibri" pitchFamily="34" charset="-122"/>
                <a:cs typeface="Calibri" pitchFamily="34" charset="-120"/>
              </a:rPr>
              <a:t>A Lightweight HTTP-Based Edge Computing Architecture for Efficient Content Delivery</a:t>
            </a:r>
            <a:endParaRPr lang="en-US" sz="1600" dirty="0"/>
          </a:p>
        </p:txBody>
      </p:sp>
      <p:sp>
        <p:nvSpPr>
          <p:cNvPr id="18" name="Text 14"/>
          <p:cNvSpPr/>
          <p:nvPr/>
        </p:nvSpPr>
        <p:spPr>
          <a:xfrm>
            <a:off x="731520" y="6227064"/>
            <a:ext cx="1920240" cy="320040"/>
          </a:xfrm>
          <a:prstGeom prst="rect">
            <a:avLst/>
          </a:prstGeom>
          <a:noFill/>
          <a:ln/>
        </p:spPr>
        <p:txBody>
          <a:bodyPr wrap="square" rtlCol="0" anchor="ctr"/>
          <a:lstStyle/>
          <a:p>
            <a:pPr marL="0" indent="0">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b="1" dirty="0">
                <a:solidFill>
                  <a:srgbClr val="0B3D91"/>
                </a:solidFill>
                <a:latin typeface="Cambria" pitchFamily="34" charset="0"/>
                <a:ea typeface="Cambria" pitchFamily="34" charset="-122"/>
                <a:cs typeface="Cambria" pitchFamily="34" charset="-120"/>
              </a:rPr>
              <a:t>Introduction &amp; Problem Statement</a:t>
            </a:r>
            <a:endParaRPr lang="en-US" sz="3000" dirty="0"/>
          </a:p>
        </p:txBody>
      </p:sp>
      <p:sp>
        <p:nvSpPr>
          <p:cNvPr id="3" name="Shape 1"/>
          <p:cNvSpPr/>
          <p:nvPr/>
        </p:nvSpPr>
        <p:spPr>
          <a:xfrm>
            <a:off x="548640" y="1143000"/>
            <a:ext cx="5394960" cy="2331720"/>
          </a:xfrm>
          <a:prstGeom prst="roundRect">
            <a:avLst>
              <a:gd name="adj" fmla="val 4706"/>
            </a:avLst>
          </a:prstGeom>
          <a:solidFill>
            <a:srgbClr val="FFFFFF"/>
          </a:solidFill>
          <a:ln w="12700">
            <a:solidFill>
              <a:srgbClr val="DCE6F0"/>
            </a:solidFill>
            <a:prstDash val="solid"/>
          </a:ln>
          <a:effectLst>
            <a:outerShdw blurRad="76200" dist="25400" dir="5400000" algn="bl" rotWithShape="0">
              <a:srgbClr val="9AB4CC">
                <a:alpha val="35000"/>
              </a:srgbClr>
            </a:outerShdw>
          </a:effectLst>
        </p:spPr>
      </p:sp>
      <p:sp>
        <p:nvSpPr>
          <p:cNvPr id="4" name="Shape 2"/>
          <p:cNvSpPr/>
          <p:nvPr/>
        </p:nvSpPr>
        <p:spPr>
          <a:xfrm>
            <a:off x="777240" y="1371600"/>
            <a:ext cx="457200" cy="457200"/>
          </a:xfrm>
          <a:prstGeom prst="ellipse">
            <a:avLst/>
          </a:prstGeom>
          <a:solidFill>
            <a:srgbClr val="2E86C1"/>
          </a:solidFill>
          <a:ln/>
        </p:spPr>
      </p:sp>
      <p:pic>
        <p:nvPicPr>
          <p:cNvPr id="5" name="Image 0" descr="/home/claude/pptx_build/icons/cloud_FFFFFF.png"/>
          <p:cNvPicPr>
            <a:picLocks noChangeAspect="1"/>
          </p:cNvPicPr>
          <p:nvPr/>
        </p:nvPicPr>
        <p:blipFill>
          <a:blip r:embed="rId3"/>
          <a:stretch>
            <a:fillRect/>
          </a:stretch>
        </p:blipFill>
        <p:spPr>
          <a:xfrm>
            <a:off x="832104" y="1426464"/>
            <a:ext cx="347472" cy="347472"/>
          </a:xfrm>
          <a:prstGeom prst="rect">
            <a:avLst/>
          </a:prstGeom>
        </p:spPr>
      </p:pic>
      <p:sp>
        <p:nvSpPr>
          <p:cNvPr id="6" name="Text 3"/>
          <p:cNvSpPr/>
          <p:nvPr/>
        </p:nvSpPr>
        <p:spPr>
          <a:xfrm>
            <a:off x="1371600" y="1353312"/>
            <a:ext cx="4389120" cy="365760"/>
          </a:xfrm>
          <a:prstGeom prst="rect">
            <a:avLst/>
          </a:prstGeom>
          <a:noFill/>
          <a:ln/>
        </p:spPr>
        <p:txBody>
          <a:bodyPr wrap="square" rtlCol="0" anchor="ctr"/>
          <a:lstStyle/>
          <a:p>
            <a:pPr marL="0" indent="0">
              <a:buNone/>
            </a:pPr>
            <a:r>
              <a:rPr lang="en-US" sz="1600" b="1" dirty="0">
                <a:solidFill>
                  <a:srgbClr val="0B3D91"/>
                </a:solidFill>
                <a:latin typeface="Calibri" pitchFamily="34" charset="0"/>
                <a:ea typeface="Calibri" pitchFamily="34" charset="-122"/>
                <a:cs typeface="Calibri" pitchFamily="34" charset="-120"/>
              </a:rPr>
              <a:t>What is a CDN?</a:t>
            </a:r>
            <a:endParaRPr lang="en-US" sz="1600" dirty="0"/>
          </a:p>
        </p:txBody>
      </p:sp>
      <p:sp>
        <p:nvSpPr>
          <p:cNvPr id="7" name="Text 4"/>
          <p:cNvSpPr/>
          <p:nvPr/>
        </p:nvSpPr>
        <p:spPr>
          <a:xfrm>
            <a:off x="777240" y="1874520"/>
            <a:ext cx="4937760" cy="1463040"/>
          </a:xfrm>
          <a:prstGeom prst="rect">
            <a:avLst/>
          </a:prstGeom>
          <a:noFill/>
          <a:ln/>
        </p:spPr>
        <p:txBody>
          <a:bodyPr wrap="square" rtlCol="0" anchor="t"/>
          <a:lstStyle/>
          <a:p>
            <a:pPr marL="0" indent="0">
              <a:buNone/>
            </a:pPr>
            <a:r>
              <a:rPr lang="en-US" sz="1250" dirty="0">
                <a:solidFill>
                  <a:srgbClr val="16324F"/>
                </a:solidFill>
                <a:latin typeface="Calibri" pitchFamily="34" charset="0"/>
                <a:ea typeface="Calibri" pitchFamily="34" charset="-122"/>
                <a:cs typeface="Calibri" pitchFamily="34" charset="-120"/>
              </a:rPr>
              <a:t>A geographically distributed group of servers that work together to deliver web content quickly to users based on their location.</a:t>
            </a:r>
            <a:endParaRPr lang="en-US" sz="1250" dirty="0"/>
          </a:p>
        </p:txBody>
      </p:sp>
      <p:sp>
        <p:nvSpPr>
          <p:cNvPr id="8" name="Shape 5"/>
          <p:cNvSpPr/>
          <p:nvPr/>
        </p:nvSpPr>
        <p:spPr>
          <a:xfrm>
            <a:off x="548640" y="3611880"/>
            <a:ext cx="5394960" cy="2606040"/>
          </a:xfrm>
          <a:prstGeom prst="roundRect">
            <a:avLst>
              <a:gd name="adj" fmla="val 4211"/>
            </a:avLst>
          </a:prstGeom>
          <a:solidFill>
            <a:srgbClr val="FFFFFF"/>
          </a:solidFill>
          <a:ln w="12700">
            <a:solidFill>
              <a:srgbClr val="DCE6F0"/>
            </a:solidFill>
            <a:prstDash val="solid"/>
          </a:ln>
          <a:effectLst>
            <a:outerShdw blurRad="76200" dist="25400" dir="5400000" algn="bl" rotWithShape="0">
              <a:srgbClr val="9AB4CC">
                <a:alpha val="35000"/>
              </a:srgbClr>
            </a:outerShdw>
          </a:effectLst>
        </p:spPr>
      </p:sp>
      <p:sp>
        <p:nvSpPr>
          <p:cNvPr id="9" name="Shape 6"/>
          <p:cNvSpPr/>
          <p:nvPr/>
        </p:nvSpPr>
        <p:spPr>
          <a:xfrm>
            <a:off x="777240" y="3840480"/>
            <a:ext cx="457200" cy="457200"/>
          </a:xfrm>
          <a:prstGeom prst="ellipse">
            <a:avLst/>
          </a:prstGeom>
          <a:solidFill>
            <a:srgbClr val="0B3D91"/>
          </a:solidFill>
          <a:ln/>
        </p:spPr>
      </p:sp>
      <p:pic>
        <p:nvPicPr>
          <p:cNvPr id="10" name="Image 1" descr="/home/claude/pptx_build/icons/server_FFFFFF.png"/>
          <p:cNvPicPr>
            <a:picLocks noChangeAspect="1"/>
          </p:cNvPicPr>
          <p:nvPr/>
        </p:nvPicPr>
        <p:blipFill>
          <a:blip r:embed="rId4"/>
          <a:stretch>
            <a:fillRect/>
          </a:stretch>
        </p:blipFill>
        <p:spPr>
          <a:xfrm>
            <a:off x="832104" y="3895344"/>
            <a:ext cx="347472" cy="347472"/>
          </a:xfrm>
          <a:prstGeom prst="rect">
            <a:avLst/>
          </a:prstGeom>
        </p:spPr>
      </p:pic>
      <p:sp>
        <p:nvSpPr>
          <p:cNvPr id="11" name="Text 7"/>
          <p:cNvSpPr/>
          <p:nvPr/>
        </p:nvSpPr>
        <p:spPr>
          <a:xfrm>
            <a:off x="1371600" y="3822192"/>
            <a:ext cx="4389120" cy="365760"/>
          </a:xfrm>
          <a:prstGeom prst="rect">
            <a:avLst/>
          </a:prstGeom>
          <a:noFill/>
          <a:ln/>
        </p:spPr>
        <p:txBody>
          <a:bodyPr wrap="square" rtlCol="0" anchor="ctr"/>
          <a:lstStyle/>
          <a:p>
            <a:pPr marL="0" indent="0">
              <a:buNone/>
            </a:pPr>
            <a:r>
              <a:rPr lang="en-US" sz="1600" b="1" dirty="0">
                <a:solidFill>
                  <a:srgbClr val="0B3D91"/>
                </a:solidFill>
                <a:latin typeface="Calibri" pitchFamily="34" charset="0"/>
                <a:ea typeface="Calibri" pitchFamily="34" charset="-122"/>
                <a:cs typeface="Calibri" pitchFamily="34" charset="-120"/>
              </a:rPr>
              <a:t>Traditional Centralized Architecture</a:t>
            </a:r>
            <a:endParaRPr lang="en-US" sz="1600" dirty="0"/>
          </a:p>
        </p:txBody>
      </p:sp>
      <p:sp>
        <p:nvSpPr>
          <p:cNvPr id="12" name="Text 8"/>
          <p:cNvSpPr/>
          <p:nvPr/>
        </p:nvSpPr>
        <p:spPr>
          <a:xfrm>
            <a:off x="777240" y="4343400"/>
            <a:ext cx="4937760" cy="1737360"/>
          </a:xfrm>
          <a:prstGeom prst="rect">
            <a:avLst/>
          </a:prstGeom>
          <a:noFill/>
          <a:ln/>
        </p:spPr>
        <p:txBody>
          <a:bodyPr wrap="square" rtlCol="0" anchor="t"/>
          <a:lstStyle/>
          <a:p>
            <a:pPr marL="0" indent="0">
              <a:buNone/>
            </a:pPr>
            <a:r>
              <a:rPr lang="en-US" sz="1250" dirty="0">
                <a:solidFill>
                  <a:srgbClr val="16324F"/>
                </a:solidFill>
                <a:latin typeface="Calibri" pitchFamily="34" charset="0"/>
                <a:ea typeface="Calibri" pitchFamily="34" charset="-122"/>
                <a:cs typeface="Calibri" pitchFamily="34" charset="-120"/>
              </a:rPr>
              <a:t>A single origin server handles every client request directly, regardless of the client's geographic distance from the server.</a:t>
            </a:r>
            <a:endParaRPr lang="en-US" sz="1250" dirty="0"/>
          </a:p>
        </p:txBody>
      </p:sp>
      <p:sp>
        <p:nvSpPr>
          <p:cNvPr id="13" name="Shape 9"/>
          <p:cNvSpPr/>
          <p:nvPr/>
        </p:nvSpPr>
        <p:spPr>
          <a:xfrm>
            <a:off x="6263640" y="1143000"/>
            <a:ext cx="5394960" cy="3977640"/>
          </a:xfrm>
          <a:prstGeom prst="roundRect">
            <a:avLst>
              <a:gd name="adj" fmla="val 2759"/>
            </a:avLst>
          </a:prstGeom>
          <a:solidFill>
            <a:srgbClr val="0B3D91"/>
          </a:solidFill>
          <a:ln/>
        </p:spPr>
      </p:sp>
      <p:sp>
        <p:nvSpPr>
          <p:cNvPr id="14" name="Text 10"/>
          <p:cNvSpPr/>
          <p:nvPr/>
        </p:nvSpPr>
        <p:spPr>
          <a:xfrm>
            <a:off x="6583680" y="1325880"/>
            <a:ext cx="475488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Key Problems</a:t>
            </a:r>
            <a:endParaRPr lang="en-US" sz="1600" dirty="0"/>
          </a:p>
        </p:txBody>
      </p:sp>
      <p:sp>
        <p:nvSpPr>
          <p:cNvPr id="15" name="Shape 11"/>
          <p:cNvSpPr/>
          <p:nvPr/>
        </p:nvSpPr>
        <p:spPr>
          <a:xfrm>
            <a:off x="6583680" y="1828800"/>
            <a:ext cx="457200" cy="457200"/>
          </a:xfrm>
          <a:prstGeom prst="ellipse">
            <a:avLst/>
          </a:prstGeom>
          <a:solidFill>
            <a:srgbClr val="00B4D8"/>
          </a:solidFill>
          <a:ln/>
        </p:spPr>
      </p:sp>
      <p:pic>
        <p:nvPicPr>
          <p:cNvPr id="16" name="Image 2" descr="/home/claude/pptx_build/icons/clock_0B3D91.png"/>
          <p:cNvPicPr>
            <a:picLocks noChangeAspect="1"/>
          </p:cNvPicPr>
          <p:nvPr/>
        </p:nvPicPr>
        <p:blipFill>
          <a:blip r:embed="rId5"/>
          <a:stretch>
            <a:fillRect/>
          </a:stretch>
        </p:blipFill>
        <p:spPr>
          <a:xfrm>
            <a:off x="6638544" y="1883664"/>
            <a:ext cx="347472" cy="347472"/>
          </a:xfrm>
          <a:prstGeom prst="rect">
            <a:avLst/>
          </a:prstGeom>
        </p:spPr>
      </p:pic>
      <p:sp>
        <p:nvSpPr>
          <p:cNvPr id="17" name="Text 12"/>
          <p:cNvSpPr/>
          <p:nvPr/>
        </p:nvSpPr>
        <p:spPr>
          <a:xfrm>
            <a:off x="7223760" y="1810512"/>
            <a:ext cx="4206240" cy="29260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High Latency</a:t>
            </a:r>
            <a:endParaRPr lang="en-US" sz="1350" dirty="0"/>
          </a:p>
        </p:txBody>
      </p:sp>
      <p:sp>
        <p:nvSpPr>
          <p:cNvPr id="18" name="Text 13"/>
          <p:cNvSpPr/>
          <p:nvPr/>
        </p:nvSpPr>
        <p:spPr>
          <a:xfrm>
            <a:off x="7223760" y="2103120"/>
            <a:ext cx="4206240" cy="365760"/>
          </a:xfrm>
          <a:prstGeom prst="rect">
            <a:avLst/>
          </a:prstGeom>
          <a:noFill/>
          <a:ln/>
        </p:spPr>
        <p:txBody>
          <a:bodyPr wrap="square" rtlCol="0" anchor="ctr"/>
          <a:lstStyle/>
          <a:p>
            <a:pPr marL="0" indent="0">
              <a:buNone/>
            </a:pPr>
            <a:r>
              <a:rPr lang="en-US" sz="1100" dirty="0">
                <a:solidFill>
                  <a:srgbClr val="5DADE2"/>
                </a:solidFill>
                <a:latin typeface="Calibri" pitchFamily="34" charset="0"/>
                <a:ea typeface="Calibri" pitchFamily="34" charset="-122"/>
                <a:cs typeface="Calibri" pitchFamily="34" charset="-120"/>
              </a:rPr>
              <a:t>Long round-trip time for distant clients</a:t>
            </a:r>
            <a:endParaRPr lang="en-US" sz="1100" dirty="0"/>
          </a:p>
        </p:txBody>
      </p:sp>
      <p:sp>
        <p:nvSpPr>
          <p:cNvPr id="19" name="Shape 14"/>
          <p:cNvSpPr/>
          <p:nvPr/>
        </p:nvSpPr>
        <p:spPr>
          <a:xfrm>
            <a:off x="6583680" y="2615184"/>
            <a:ext cx="457200" cy="457200"/>
          </a:xfrm>
          <a:prstGeom prst="ellipse">
            <a:avLst/>
          </a:prstGeom>
          <a:solidFill>
            <a:srgbClr val="00B4D8"/>
          </a:solidFill>
          <a:ln/>
        </p:spPr>
      </p:sp>
      <p:pic>
        <p:nvPicPr>
          <p:cNvPr id="20" name="Image 3" descr="/home/claude/pptx_build/icons/gauge_0B3D91.png"/>
          <p:cNvPicPr>
            <a:picLocks noChangeAspect="1"/>
          </p:cNvPicPr>
          <p:nvPr/>
        </p:nvPicPr>
        <p:blipFill>
          <a:blip r:embed="rId6"/>
          <a:stretch>
            <a:fillRect/>
          </a:stretch>
        </p:blipFill>
        <p:spPr>
          <a:xfrm>
            <a:off x="6638544" y="2670048"/>
            <a:ext cx="347472" cy="347472"/>
          </a:xfrm>
          <a:prstGeom prst="rect">
            <a:avLst/>
          </a:prstGeom>
        </p:spPr>
      </p:pic>
      <p:sp>
        <p:nvSpPr>
          <p:cNvPr id="21" name="Text 15"/>
          <p:cNvSpPr/>
          <p:nvPr/>
        </p:nvSpPr>
        <p:spPr>
          <a:xfrm>
            <a:off x="7223760" y="2596896"/>
            <a:ext cx="4206240" cy="29260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Increased Server Load</a:t>
            </a:r>
            <a:endParaRPr lang="en-US" sz="1350" dirty="0"/>
          </a:p>
        </p:txBody>
      </p:sp>
      <p:sp>
        <p:nvSpPr>
          <p:cNvPr id="22" name="Text 16"/>
          <p:cNvSpPr/>
          <p:nvPr/>
        </p:nvSpPr>
        <p:spPr>
          <a:xfrm>
            <a:off x="7223760" y="2889504"/>
            <a:ext cx="4206240" cy="365760"/>
          </a:xfrm>
          <a:prstGeom prst="rect">
            <a:avLst/>
          </a:prstGeom>
          <a:noFill/>
          <a:ln/>
        </p:spPr>
        <p:txBody>
          <a:bodyPr wrap="square" rtlCol="0" anchor="ctr"/>
          <a:lstStyle/>
          <a:p>
            <a:pPr marL="0" indent="0">
              <a:buNone/>
            </a:pPr>
            <a:r>
              <a:rPr lang="en-US" sz="1100" dirty="0">
                <a:solidFill>
                  <a:srgbClr val="5DADE2"/>
                </a:solidFill>
                <a:latin typeface="Calibri" pitchFamily="34" charset="0"/>
                <a:ea typeface="Calibri" pitchFamily="34" charset="-122"/>
                <a:cs typeface="Calibri" pitchFamily="34" charset="-120"/>
              </a:rPr>
              <a:t>Origin handles every single request</a:t>
            </a:r>
            <a:endParaRPr lang="en-US" sz="1100" dirty="0"/>
          </a:p>
        </p:txBody>
      </p:sp>
      <p:sp>
        <p:nvSpPr>
          <p:cNvPr id="23" name="Shape 17"/>
          <p:cNvSpPr/>
          <p:nvPr/>
        </p:nvSpPr>
        <p:spPr>
          <a:xfrm>
            <a:off x="6583680" y="3401568"/>
            <a:ext cx="457200" cy="457200"/>
          </a:xfrm>
          <a:prstGeom prst="ellipse">
            <a:avLst/>
          </a:prstGeom>
          <a:solidFill>
            <a:srgbClr val="00B4D8"/>
          </a:solidFill>
          <a:ln/>
        </p:spPr>
      </p:sp>
      <p:pic>
        <p:nvPicPr>
          <p:cNvPr id="24" name="Image 4" descr="/home/claude/pptx_build/icons/network_0B3D91.png"/>
          <p:cNvPicPr>
            <a:picLocks noChangeAspect="1"/>
          </p:cNvPicPr>
          <p:nvPr/>
        </p:nvPicPr>
        <p:blipFill>
          <a:blip r:embed="rId7"/>
          <a:stretch>
            <a:fillRect/>
          </a:stretch>
        </p:blipFill>
        <p:spPr>
          <a:xfrm>
            <a:off x="6638544" y="3456432"/>
            <a:ext cx="347472" cy="347472"/>
          </a:xfrm>
          <a:prstGeom prst="rect">
            <a:avLst/>
          </a:prstGeom>
        </p:spPr>
      </p:pic>
      <p:sp>
        <p:nvSpPr>
          <p:cNvPr id="25" name="Text 18"/>
          <p:cNvSpPr/>
          <p:nvPr/>
        </p:nvSpPr>
        <p:spPr>
          <a:xfrm>
            <a:off x="7223760" y="3383280"/>
            <a:ext cx="4206240" cy="29260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Network Congestion</a:t>
            </a:r>
            <a:endParaRPr lang="en-US" sz="1350" dirty="0"/>
          </a:p>
        </p:txBody>
      </p:sp>
      <p:sp>
        <p:nvSpPr>
          <p:cNvPr id="26" name="Text 19"/>
          <p:cNvSpPr/>
          <p:nvPr/>
        </p:nvSpPr>
        <p:spPr>
          <a:xfrm>
            <a:off x="7223760" y="3675888"/>
            <a:ext cx="4206240" cy="365760"/>
          </a:xfrm>
          <a:prstGeom prst="rect">
            <a:avLst/>
          </a:prstGeom>
          <a:noFill/>
          <a:ln/>
        </p:spPr>
        <p:txBody>
          <a:bodyPr wrap="square" rtlCol="0" anchor="ctr"/>
          <a:lstStyle/>
          <a:p>
            <a:pPr marL="0" indent="0">
              <a:buNone/>
            </a:pPr>
            <a:r>
              <a:rPr lang="en-US" sz="1100" dirty="0">
                <a:solidFill>
                  <a:srgbClr val="5DADE2"/>
                </a:solidFill>
                <a:latin typeface="Calibri" pitchFamily="34" charset="0"/>
                <a:ea typeface="Calibri" pitchFamily="34" charset="-122"/>
                <a:cs typeface="Calibri" pitchFamily="34" charset="-120"/>
              </a:rPr>
              <a:t>Traffic bottlenecks near the origin</a:t>
            </a:r>
            <a:endParaRPr lang="en-US" sz="1100" dirty="0"/>
          </a:p>
        </p:txBody>
      </p:sp>
      <p:sp>
        <p:nvSpPr>
          <p:cNvPr id="27" name="Shape 20"/>
          <p:cNvSpPr/>
          <p:nvPr/>
        </p:nvSpPr>
        <p:spPr>
          <a:xfrm>
            <a:off x="6583680" y="4187952"/>
            <a:ext cx="457200" cy="457200"/>
          </a:xfrm>
          <a:prstGeom prst="ellipse">
            <a:avLst/>
          </a:prstGeom>
          <a:solidFill>
            <a:srgbClr val="00B4D8"/>
          </a:solidFill>
          <a:ln/>
        </p:spPr>
      </p:sp>
      <p:pic>
        <p:nvPicPr>
          <p:cNvPr id="28" name="Image 5" descr="/home/claude/pptx_build/icons/xcircle_0B3D91.png"/>
          <p:cNvPicPr>
            <a:picLocks noChangeAspect="1"/>
          </p:cNvPicPr>
          <p:nvPr/>
        </p:nvPicPr>
        <p:blipFill>
          <a:blip r:embed="rId8"/>
          <a:stretch>
            <a:fillRect/>
          </a:stretch>
        </p:blipFill>
        <p:spPr>
          <a:xfrm>
            <a:off x="6638544" y="4242816"/>
            <a:ext cx="347472" cy="347472"/>
          </a:xfrm>
          <a:prstGeom prst="rect">
            <a:avLst/>
          </a:prstGeom>
        </p:spPr>
      </p:pic>
      <p:sp>
        <p:nvSpPr>
          <p:cNvPr id="29" name="Text 21"/>
          <p:cNvSpPr/>
          <p:nvPr/>
        </p:nvSpPr>
        <p:spPr>
          <a:xfrm>
            <a:off x="7223760" y="4169664"/>
            <a:ext cx="4206240" cy="29260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Poor Quality of Experience</a:t>
            </a:r>
            <a:endParaRPr lang="en-US" sz="1350" dirty="0"/>
          </a:p>
        </p:txBody>
      </p:sp>
      <p:sp>
        <p:nvSpPr>
          <p:cNvPr id="30" name="Text 22"/>
          <p:cNvSpPr/>
          <p:nvPr/>
        </p:nvSpPr>
        <p:spPr>
          <a:xfrm>
            <a:off x="7223760" y="4462272"/>
            <a:ext cx="4206240" cy="365760"/>
          </a:xfrm>
          <a:prstGeom prst="rect">
            <a:avLst/>
          </a:prstGeom>
          <a:noFill/>
          <a:ln/>
        </p:spPr>
        <p:txBody>
          <a:bodyPr wrap="square" rtlCol="0" anchor="ctr"/>
          <a:lstStyle/>
          <a:p>
            <a:pPr marL="0" indent="0">
              <a:buNone/>
            </a:pPr>
            <a:r>
              <a:rPr lang="en-US" sz="1100" dirty="0">
                <a:solidFill>
                  <a:srgbClr val="5DADE2"/>
                </a:solidFill>
                <a:latin typeface="Calibri" pitchFamily="34" charset="0"/>
                <a:ea typeface="Calibri" pitchFamily="34" charset="-122"/>
                <a:cs typeface="Calibri" pitchFamily="34" charset="-120"/>
              </a:rPr>
              <a:t>Slow load times frustrate users</a:t>
            </a:r>
            <a:endParaRPr lang="en-US" sz="1100" dirty="0"/>
          </a:p>
        </p:txBody>
      </p:sp>
      <p:sp>
        <p:nvSpPr>
          <p:cNvPr id="31" name="Shape 23"/>
          <p:cNvSpPr/>
          <p:nvPr/>
        </p:nvSpPr>
        <p:spPr>
          <a:xfrm>
            <a:off x="548640" y="5623560"/>
            <a:ext cx="11109960" cy="777240"/>
          </a:xfrm>
          <a:prstGeom prst="roundRect">
            <a:avLst>
              <a:gd name="adj" fmla="val 11765"/>
            </a:avLst>
          </a:prstGeom>
          <a:solidFill>
            <a:srgbClr val="00B4D8"/>
          </a:solidFill>
          <a:ln/>
        </p:spPr>
      </p:sp>
      <p:sp>
        <p:nvSpPr>
          <p:cNvPr id="32" name="Shape 24"/>
          <p:cNvSpPr/>
          <p:nvPr/>
        </p:nvSpPr>
        <p:spPr>
          <a:xfrm>
            <a:off x="731520" y="5742432"/>
            <a:ext cx="502920" cy="502920"/>
          </a:xfrm>
          <a:prstGeom prst="ellipse">
            <a:avLst/>
          </a:prstGeom>
          <a:solidFill>
            <a:srgbClr val="FFFFFF"/>
          </a:solidFill>
          <a:ln/>
        </p:spPr>
      </p:sp>
      <p:pic>
        <p:nvPicPr>
          <p:cNvPr id="33" name="Image 6" descr="/home/claude/pptx_build/icons/rocket_0B3D91.png"/>
          <p:cNvPicPr>
            <a:picLocks noChangeAspect="1"/>
          </p:cNvPicPr>
          <p:nvPr/>
        </p:nvPicPr>
        <p:blipFill>
          <a:blip r:embed="rId9"/>
          <a:stretch>
            <a:fillRect/>
          </a:stretch>
        </p:blipFill>
        <p:spPr>
          <a:xfrm>
            <a:off x="791870" y="5802782"/>
            <a:ext cx="382219" cy="382219"/>
          </a:xfrm>
          <a:prstGeom prst="rect">
            <a:avLst/>
          </a:prstGeom>
        </p:spPr>
      </p:pic>
      <p:sp>
        <p:nvSpPr>
          <p:cNvPr id="34" name="Text 25"/>
          <p:cNvSpPr/>
          <p:nvPr/>
        </p:nvSpPr>
        <p:spPr>
          <a:xfrm>
            <a:off x="1417320" y="5623560"/>
            <a:ext cx="10058400" cy="777240"/>
          </a:xfrm>
          <a:prstGeom prst="rect">
            <a:avLst/>
          </a:prstGeom>
          <a:noFill/>
          <a:ln/>
        </p:spPr>
        <p:txBody>
          <a:bodyPr wrap="square" rtlCol="0" anchor="ctr"/>
          <a:lstStyle/>
          <a:p>
            <a:pPr marL="0" indent="0">
              <a:buNone/>
            </a:pPr>
            <a:r>
              <a:rPr lang="en-US" sz="1300" b="1" dirty="0">
                <a:solidFill>
                  <a:srgbClr val="0B3D91"/>
                </a:solidFill>
                <a:latin typeface="Calibri" pitchFamily="34" charset="0"/>
                <a:ea typeface="Calibri" pitchFamily="34" charset="-122"/>
                <a:cs typeface="Calibri" pitchFamily="34" charset="-120"/>
              </a:rPr>
              <a:t>Proposed Solution: Deploy multiple edge servers between clients and the origin server to reduce response time and distribute network traffic.</a:t>
            </a:r>
            <a:endParaRPr lang="en-US" sz="1300" dirty="0"/>
          </a:p>
        </p:txBody>
      </p:sp>
      <p:sp>
        <p:nvSpPr>
          <p:cNvPr id="36" name="Text 27"/>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6B8CA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b="1" dirty="0">
                <a:solidFill>
                  <a:srgbClr val="0B3D91"/>
                </a:solidFill>
                <a:latin typeface="Cambria" pitchFamily="34" charset="0"/>
                <a:ea typeface="Cambria" pitchFamily="34" charset="-122"/>
                <a:cs typeface="Cambria" pitchFamily="34" charset="-120"/>
              </a:rPr>
              <a:t>Objectives</a:t>
            </a:r>
            <a:endParaRPr lang="en-US" sz="3000" dirty="0"/>
          </a:p>
        </p:txBody>
      </p:sp>
      <p:sp>
        <p:nvSpPr>
          <p:cNvPr id="3" name="Shape 1"/>
          <p:cNvSpPr/>
          <p:nvPr/>
        </p:nvSpPr>
        <p:spPr>
          <a:xfrm>
            <a:off x="548640" y="1234440"/>
            <a:ext cx="5394960" cy="1051560"/>
          </a:xfrm>
          <a:prstGeom prst="roundRect">
            <a:avLst>
              <a:gd name="adj" fmla="val 8696"/>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4" name="Shape 2"/>
          <p:cNvSpPr/>
          <p:nvPr/>
        </p:nvSpPr>
        <p:spPr>
          <a:xfrm>
            <a:off x="777240" y="1463040"/>
            <a:ext cx="594360" cy="594360"/>
          </a:xfrm>
          <a:prstGeom prst="ellipse">
            <a:avLst/>
          </a:prstGeom>
          <a:solidFill>
            <a:srgbClr val="2E86C1"/>
          </a:solidFill>
          <a:ln/>
        </p:spPr>
      </p:sp>
      <p:pic>
        <p:nvPicPr>
          <p:cNvPr id="5" name="Image 0" descr="/home/claude/pptx_build/icons/sitemap_FFFFFF.png"/>
          <p:cNvPicPr>
            <a:picLocks noChangeAspect="1"/>
          </p:cNvPicPr>
          <p:nvPr/>
        </p:nvPicPr>
        <p:blipFill>
          <a:blip r:embed="rId3"/>
          <a:stretch>
            <a:fillRect/>
          </a:stretch>
        </p:blipFill>
        <p:spPr>
          <a:xfrm>
            <a:off x="848563" y="1534363"/>
            <a:ext cx="451714" cy="451714"/>
          </a:xfrm>
          <a:prstGeom prst="rect">
            <a:avLst/>
          </a:prstGeom>
        </p:spPr>
      </p:pic>
      <p:sp>
        <p:nvSpPr>
          <p:cNvPr id="6" name="Text 3"/>
          <p:cNvSpPr/>
          <p:nvPr/>
        </p:nvSpPr>
        <p:spPr>
          <a:xfrm>
            <a:off x="1554480" y="1234440"/>
            <a:ext cx="4206240" cy="1051560"/>
          </a:xfrm>
          <a:prstGeom prst="rect">
            <a:avLst/>
          </a:prstGeom>
          <a:noFill/>
          <a:ln/>
        </p:spPr>
        <p:txBody>
          <a:bodyPr wrap="square" rtlCol="0" anchor="ctr"/>
          <a:lstStyle/>
          <a:p>
            <a:pPr marL="0" indent="0">
              <a:buNone/>
            </a:pPr>
            <a:r>
              <a:rPr lang="en-US" sz="1350" b="1" dirty="0">
                <a:solidFill>
                  <a:srgbClr val="16324F"/>
                </a:solidFill>
                <a:latin typeface="Calibri" pitchFamily="34" charset="0"/>
                <a:ea typeface="Calibri" pitchFamily="34" charset="-122"/>
                <a:cs typeface="Calibri" pitchFamily="34" charset="-120"/>
              </a:rPr>
              <a:t>Design a lightweight Edge CDN architecture</a:t>
            </a:r>
            <a:endParaRPr lang="en-US" sz="1350" dirty="0"/>
          </a:p>
        </p:txBody>
      </p:sp>
      <p:sp>
        <p:nvSpPr>
          <p:cNvPr id="7" name="Shape 4"/>
          <p:cNvSpPr/>
          <p:nvPr/>
        </p:nvSpPr>
        <p:spPr>
          <a:xfrm>
            <a:off x="6263640" y="1234440"/>
            <a:ext cx="5394960" cy="1051560"/>
          </a:xfrm>
          <a:prstGeom prst="roundRect">
            <a:avLst>
              <a:gd name="adj" fmla="val 8696"/>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8" name="Shape 5"/>
          <p:cNvSpPr/>
          <p:nvPr/>
        </p:nvSpPr>
        <p:spPr>
          <a:xfrm>
            <a:off x="6492240" y="1463040"/>
            <a:ext cx="594360" cy="594360"/>
          </a:xfrm>
          <a:prstGeom prst="ellipse">
            <a:avLst/>
          </a:prstGeom>
          <a:solidFill>
            <a:srgbClr val="0B3D91"/>
          </a:solidFill>
          <a:ln/>
        </p:spPr>
      </p:sp>
      <p:pic>
        <p:nvPicPr>
          <p:cNvPr id="9" name="Image 1" descr="/home/claude/pptx_build/icons/server_FFFFFF.png"/>
          <p:cNvPicPr>
            <a:picLocks noChangeAspect="1"/>
          </p:cNvPicPr>
          <p:nvPr/>
        </p:nvPicPr>
        <p:blipFill>
          <a:blip r:embed="rId4"/>
          <a:stretch>
            <a:fillRect/>
          </a:stretch>
        </p:blipFill>
        <p:spPr>
          <a:xfrm>
            <a:off x="6563563" y="1534363"/>
            <a:ext cx="451714" cy="451714"/>
          </a:xfrm>
          <a:prstGeom prst="rect">
            <a:avLst/>
          </a:prstGeom>
        </p:spPr>
      </p:pic>
      <p:sp>
        <p:nvSpPr>
          <p:cNvPr id="10" name="Text 6"/>
          <p:cNvSpPr/>
          <p:nvPr/>
        </p:nvSpPr>
        <p:spPr>
          <a:xfrm>
            <a:off x="7269480" y="1234440"/>
            <a:ext cx="4206240" cy="1051560"/>
          </a:xfrm>
          <a:prstGeom prst="rect">
            <a:avLst/>
          </a:prstGeom>
          <a:noFill/>
          <a:ln/>
        </p:spPr>
        <p:txBody>
          <a:bodyPr wrap="square" rtlCol="0" anchor="ctr"/>
          <a:lstStyle/>
          <a:p>
            <a:pPr marL="0" indent="0">
              <a:buNone/>
            </a:pPr>
            <a:r>
              <a:rPr lang="en-US" sz="1350" b="1" dirty="0">
                <a:solidFill>
                  <a:srgbClr val="16324F"/>
                </a:solidFill>
                <a:latin typeface="Calibri" pitchFamily="34" charset="0"/>
                <a:ea typeface="Calibri" pitchFamily="34" charset="-122"/>
                <a:cs typeface="Calibri" pitchFamily="34" charset="-120"/>
              </a:rPr>
              <a:t>Implement one Global Server and three Edge Servers</a:t>
            </a:r>
            <a:endParaRPr lang="en-US" sz="1350" dirty="0"/>
          </a:p>
        </p:txBody>
      </p:sp>
      <p:sp>
        <p:nvSpPr>
          <p:cNvPr id="11" name="Shape 7"/>
          <p:cNvSpPr/>
          <p:nvPr/>
        </p:nvSpPr>
        <p:spPr>
          <a:xfrm>
            <a:off x="548640" y="2514600"/>
            <a:ext cx="5394960" cy="1051560"/>
          </a:xfrm>
          <a:prstGeom prst="roundRect">
            <a:avLst>
              <a:gd name="adj" fmla="val 8696"/>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12" name="Shape 8"/>
          <p:cNvSpPr/>
          <p:nvPr/>
        </p:nvSpPr>
        <p:spPr>
          <a:xfrm>
            <a:off x="777240" y="2743200"/>
            <a:ext cx="594360" cy="594360"/>
          </a:xfrm>
          <a:prstGeom prst="ellipse">
            <a:avLst/>
          </a:prstGeom>
          <a:solidFill>
            <a:srgbClr val="2E86C1"/>
          </a:solidFill>
          <a:ln/>
        </p:spPr>
      </p:sp>
      <p:pic>
        <p:nvPicPr>
          <p:cNvPr id="13" name="Image 2" descr="/home/claude/pptx_build/icons/users_FFFFFF.png"/>
          <p:cNvPicPr>
            <a:picLocks noChangeAspect="1"/>
          </p:cNvPicPr>
          <p:nvPr/>
        </p:nvPicPr>
        <p:blipFill>
          <a:blip r:embed="rId5"/>
          <a:stretch>
            <a:fillRect/>
          </a:stretch>
        </p:blipFill>
        <p:spPr>
          <a:xfrm>
            <a:off x="848563" y="2814523"/>
            <a:ext cx="451714" cy="451714"/>
          </a:xfrm>
          <a:prstGeom prst="rect">
            <a:avLst/>
          </a:prstGeom>
        </p:spPr>
      </p:pic>
      <p:sp>
        <p:nvSpPr>
          <p:cNvPr id="14" name="Text 9"/>
          <p:cNvSpPr/>
          <p:nvPr/>
        </p:nvSpPr>
        <p:spPr>
          <a:xfrm>
            <a:off x="1554480" y="2514600"/>
            <a:ext cx="4206240" cy="1051560"/>
          </a:xfrm>
          <a:prstGeom prst="rect">
            <a:avLst/>
          </a:prstGeom>
          <a:noFill/>
          <a:ln/>
        </p:spPr>
        <p:txBody>
          <a:bodyPr wrap="square" rtlCol="0" anchor="ctr"/>
          <a:lstStyle/>
          <a:p>
            <a:pPr marL="0" indent="0">
              <a:buNone/>
            </a:pPr>
            <a:r>
              <a:rPr lang="en-US" sz="1350" b="1" dirty="0">
                <a:solidFill>
                  <a:srgbClr val="16324F"/>
                </a:solidFill>
                <a:latin typeface="Calibri" pitchFamily="34" charset="0"/>
                <a:ea typeface="Calibri" pitchFamily="34" charset="-122"/>
                <a:cs typeface="Calibri" pitchFamily="34" charset="-120"/>
              </a:rPr>
              <a:t>Support multiple simultaneous clients</a:t>
            </a:r>
            <a:endParaRPr lang="en-US" sz="1350" dirty="0"/>
          </a:p>
        </p:txBody>
      </p:sp>
      <p:sp>
        <p:nvSpPr>
          <p:cNvPr id="15" name="Shape 10"/>
          <p:cNvSpPr/>
          <p:nvPr/>
        </p:nvSpPr>
        <p:spPr>
          <a:xfrm>
            <a:off x="6263640" y="2514600"/>
            <a:ext cx="5394960" cy="1051560"/>
          </a:xfrm>
          <a:prstGeom prst="roundRect">
            <a:avLst>
              <a:gd name="adj" fmla="val 8696"/>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16" name="Shape 11"/>
          <p:cNvSpPr/>
          <p:nvPr/>
        </p:nvSpPr>
        <p:spPr>
          <a:xfrm>
            <a:off x="6492240" y="2743200"/>
            <a:ext cx="594360" cy="594360"/>
          </a:xfrm>
          <a:prstGeom prst="ellipse">
            <a:avLst/>
          </a:prstGeom>
          <a:solidFill>
            <a:srgbClr val="0B3D91"/>
          </a:solidFill>
          <a:ln/>
        </p:spPr>
      </p:sp>
      <p:pic>
        <p:nvPicPr>
          <p:cNvPr id="17" name="Image 3" descr="/home/claude/pptx_build/icons/bolt_FFFFFF.png"/>
          <p:cNvPicPr>
            <a:picLocks noChangeAspect="1"/>
          </p:cNvPicPr>
          <p:nvPr/>
        </p:nvPicPr>
        <p:blipFill>
          <a:blip r:embed="rId6"/>
          <a:stretch>
            <a:fillRect/>
          </a:stretch>
        </p:blipFill>
        <p:spPr>
          <a:xfrm>
            <a:off x="6563563" y="2814523"/>
            <a:ext cx="451714" cy="451714"/>
          </a:xfrm>
          <a:prstGeom prst="rect">
            <a:avLst/>
          </a:prstGeom>
        </p:spPr>
      </p:pic>
      <p:sp>
        <p:nvSpPr>
          <p:cNvPr id="18" name="Text 12"/>
          <p:cNvSpPr/>
          <p:nvPr/>
        </p:nvSpPr>
        <p:spPr>
          <a:xfrm>
            <a:off x="7269480" y="2514600"/>
            <a:ext cx="4206240" cy="1051560"/>
          </a:xfrm>
          <a:prstGeom prst="rect">
            <a:avLst/>
          </a:prstGeom>
          <a:noFill/>
          <a:ln/>
        </p:spPr>
        <p:txBody>
          <a:bodyPr wrap="square" rtlCol="0" anchor="ctr"/>
          <a:lstStyle/>
          <a:p>
            <a:pPr marL="0" indent="0">
              <a:buNone/>
            </a:pPr>
            <a:r>
              <a:rPr lang="en-US" sz="1350" b="1" dirty="0">
                <a:solidFill>
                  <a:srgbClr val="16324F"/>
                </a:solidFill>
                <a:latin typeface="Calibri" pitchFamily="34" charset="0"/>
                <a:ea typeface="Calibri" pitchFamily="34" charset="-122"/>
                <a:cs typeface="Calibri" pitchFamily="34" charset="-120"/>
              </a:rPr>
              <a:t>Reduce access latency</a:t>
            </a:r>
            <a:endParaRPr lang="en-US" sz="1350" dirty="0"/>
          </a:p>
        </p:txBody>
      </p:sp>
      <p:sp>
        <p:nvSpPr>
          <p:cNvPr id="19" name="Shape 13"/>
          <p:cNvSpPr/>
          <p:nvPr/>
        </p:nvSpPr>
        <p:spPr>
          <a:xfrm>
            <a:off x="548640" y="3794760"/>
            <a:ext cx="5394960" cy="1051560"/>
          </a:xfrm>
          <a:prstGeom prst="roundRect">
            <a:avLst>
              <a:gd name="adj" fmla="val 8696"/>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20" name="Shape 14"/>
          <p:cNvSpPr/>
          <p:nvPr/>
        </p:nvSpPr>
        <p:spPr>
          <a:xfrm>
            <a:off x="777240" y="4023360"/>
            <a:ext cx="594360" cy="594360"/>
          </a:xfrm>
          <a:prstGeom prst="ellipse">
            <a:avLst/>
          </a:prstGeom>
          <a:solidFill>
            <a:srgbClr val="2E86C1"/>
          </a:solidFill>
          <a:ln/>
        </p:spPr>
      </p:sp>
      <p:pic>
        <p:nvPicPr>
          <p:cNvPr id="21" name="Image 4" descr="/home/claude/pptx_build/icons/gauge_FFFFFF.png"/>
          <p:cNvPicPr>
            <a:picLocks noChangeAspect="1"/>
          </p:cNvPicPr>
          <p:nvPr/>
        </p:nvPicPr>
        <p:blipFill>
          <a:blip r:embed="rId7"/>
          <a:stretch>
            <a:fillRect/>
          </a:stretch>
        </p:blipFill>
        <p:spPr>
          <a:xfrm>
            <a:off x="848563" y="4094683"/>
            <a:ext cx="451714" cy="451714"/>
          </a:xfrm>
          <a:prstGeom prst="rect">
            <a:avLst/>
          </a:prstGeom>
        </p:spPr>
      </p:pic>
      <p:sp>
        <p:nvSpPr>
          <p:cNvPr id="22" name="Text 15"/>
          <p:cNvSpPr/>
          <p:nvPr/>
        </p:nvSpPr>
        <p:spPr>
          <a:xfrm>
            <a:off x="1554480" y="3794760"/>
            <a:ext cx="4206240" cy="1051560"/>
          </a:xfrm>
          <a:prstGeom prst="rect">
            <a:avLst/>
          </a:prstGeom>
          <a:noFill/>
          <a:ln/>
        </p:spPr>
        <p:txBody>
          <a:bodyPr wrap="square" rtlCol="0" anchor="ctr"/>
          <a:lstStyle/>
          <a:p>
            <a:pPr marL="0" indent="0">
              <a:buNone/>
            </a:pPr>
            <a:r>
              <a:rPr lang="en-US" sz="1350" b="1" dirty="0">
                <a:solidFill>
                  <a:srgbClr val="16324F"/>
                </a:solidFill>
                <a:latin typeface="Calibri" pitchFamily="34" charset="0"/>
                <a:ea typeface="Calibri" pitchFamily="34" charset="-122"/>
                <a:cs typeface="Calibri" pitchFamily="34" charset="-120"/>
              </a:rPr>
              <a:t>Reduce Global Server workload</a:t>
            </a:r>
            <a:endParaRPr lang="en-US" sz="1350" dirty="0"/>
          </a:p>
        </p:txBody>
      </p:sp>
      <p:sp>
        <p:nvSpPr>
          <p:cNvPr id="23" name="Shape 16"/>
          <p:cNvSpPr/>
          <p:nvPr/>
        </p:nvSpPr>
        <p:spPr>
          <a:xfrm>
            <a:off x="6263640" y="3794760"/>
            <a:ext cx="5394960" cy="1051560"/>
          </a:xfrm>
          <a:prstGeom prst="roundRect">
            <a:avLst>
              <a:gd name="adj" fmla="val 8696"/>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24" name="Shape 17"/>
          <p:cNvSpPr/>
          <p:nvPr/>
        </p:nvSpPr>
        <p:spPr>
          <a:xfrm>
            <a:off x="6492240" y="4023360"/>
            <a:ext cx="594360" cy="594360"/>
          </a:xfrm>
          <a:prstGeom prst="ellipse">
            <a:avLst/>
          </a:prstGeom>
          <a:solidFill>
            <a:srgbClr val="0B3D91"/>
          </a:solidFill>
          <a:ln/>
        </p:spPr>
      </p:sp>
      <p:pic>
        <p:nvPicPr>
          <p:cNvPr id="25" name="Image 5" descr="/home/claude/pptx_build/icons/http_FFFFFF.png"/>
          <p:cNvPicPr>
            <a:picLocks noChangeAspect="1"/>
          </p:cNvPicPr>
          <p:nvPr/>
        </p:nvPicPr>
        <p:blipFill>
          <a:blip r:embed="rId8"/>
          <a:stretch>
            <a:fillRect/>
          </a:stretch>
        </p:blipFill>
        <p:spPr>
          <a:xfrm>
            <a:off x="6563563" y="4094683"/>
            <a:ext cx="451714" cy="451714"/>
          </a:xfrm>
          <a:prstGeom prst="rect">
            <a:avLst/>
          </a:prstGeom>
        </p:spPr>
      </p:pic>
      <p:sp>
        <p:nvSpPr>
          <p:cNvPr id="26" name="Text 18"/>
          <p:cNvSpPr/>
          <p:nvPr/>
        </p:nvSpPr>
        <p:spPr>
          <a:xfrm>
            <a:off x="7269480" y="3794760"/>
            <a:ext cx="4206240" cy="1051560"/>
          </a:xfrm>
          <a:prstGeom prst="rect">
            <a:avLst/>
          </a:prstGeom>
          <a:noFill/>
          <a:ln/>
        </p:spPr>
        <p:txBody>
          <a:bodyPr wrap="square" rtlCol="0" anchor="ctr"/>
          <a:lstStyle/>
          <a:p>
            <a:pPr marL="0" indent="0">
              <a:buNone/>
            </a:pPr>
            <a:r>
              <a:rPr lang="en-US" sz="1350" b="1" dirty="0">
                <a:solidFill>
                  <a:srgbClr val="16324F"/>
                </a:solidFill>
                <a:latin typeface="Calibri" pitchFamily="34" charset="0"/>
                <a:ea typeface="Calibri" pitchFamily="34" charset="-122"/>
                <a:cs typeface="Calibri" pitchFamily="34" charset="-120"/>
              </a:rPr>
              <a:t>Demonstrate HTTP-based distributed communication</a:t>
            </a:r>
            <a:endParaRPr lang="en-US" sz="1350" dirty="0"/>
          </a:p>
        </p:txBody>
      </p:sp>
      <p:sp>
        <p:nvSpPr>
          <p:cNvPr id="27" name="Shape 19"/>
          <p:cNvSpPr/>
          <p:nvPr/>
        </p:nvSpPr>
        <p:spPr>
          <a:xfrm>
            <a:off x="548640" y="5074920"/>
            <a:ext cx="5394960" cy="1051560"/>
          </a:xfrm>
          <a:prstGeom prst="roundRect">
            <a:avLst>
              <a:gd name="adj" fmla="val 8696"/>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28" name="Shape 20"/>
          <p:cNvSpPr/>
          <p:nvPr/>
        </p:nvSpPr>
        <p:spPr>
          <a:xfrm>
            <a:off x="777240" y="5303520"/>
            <a:ext cx="594360" cy="594360"/>
          </a:xfrm>
          <a:prstGeom prst="ellipse">
            <a:avLst/>
          </a:prstGeom>
          <a:solidFill>
            <a:srgbClr val="2E86C1"/>
          </a:solidFill>
          <a:ln/>
        </p:spPr>
      </p:sp>
      <p:pic>
        <p:nvPicPr>
          <p:cNvPr id="29" name="Image 6" descr="/home/claude/pptx_build/icons/chart_FFFFFF.png"/>
          <p:cNvPicPr>
            <a:picLocks noChangeAspect="1"/>
          </p:cNvPicPr>
          <p:nvPr/>
        </p:nvPicPr>
        <p:blipFill>
          <a:blip r:embed="rId9"/>
          <a:stretch>
            <a:fillRect/>
          </a:stretch>
        </p:blipFill>
        <p:spPr>
          <a:xfrm>
            <a:off x="848563" y="5374843"/>
            <a:ext cx="451714" cy="451714"/>
          </a:xfrm>
          <a:prstGeom prst="rect">
            <a:avLst/>
          </a:prstGeom>
        </p:spPr>
      </p:pic>
      <p:sp>
        <p:nvSpPr>
          <p:cNvPr id="30" name="Text 21"/>
          <p:cNvSpPr/>
          <p:nvPr/>
        </p:nvSpPr>
        <p:spPr>
          <a:xfrm>
            <a:off x="1554480" y="5074920"/>
            <a:ext cx="4206240" cy="1051560"/>
          </a:xfrm>
          <a:prstGeom prst="rect">
            <a:avLst/>
          </a:prstGeom>
          <a:noFill/>
          <a:ln/>
        </p:spPr>
        <p:txBody>
          <a:bodyPr wrap="square" rtlCol="0" anchor="ctr"/>
          <a:lstStyle/>
          <a:p>
            <a:pPr marL="0" indent="0">
              <a:buNone/>
            </a:pPr>
            <a:r>
              <a:rPr lang="en-US" sz="1350" b="1" dirty="0">
                <a:solidFill>
                  <a:srgbClr val="16324F"/>
                </a:solidFill>
                <a:latin typeface="Calibri" pitchFamily="34" charset="0"/>
                <a:ea typeface="Calibri" pitchFamily="34" charset="-122"/>
                <a:cs typeface="Calibri" pitchFamily="34" charset="-120"/>
              </a:rPr>
              <a:t>Improve scalability using edge computing</a:t>
            </a:r>
            <a:endParaRPr lang="en-US" sz="1350" dirty="0"/>
          </a:p>
        </p:txBody>
      </p:sp>
      <p:sp>
        <p:nvSpPr>
          <p:cNvPr id="32" name="Text 2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6B8CA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b="1" dirty="0">
                <a:solidFill>
                  <a:srgbClr val="0B3D91"/>
                </a:solidFill>
                <a:latin typeface="Cambria" pitchFamily="34" charset="0"/>
                <a:ea typeface="Cambria" pitchFamily="34" charset="-122"/>
                <a:cs typeface="Cambria" pitchFamily="34" charset="-120"/>
              </a:rPr>
              <a:t>System Architecture</a:t>
            </a:r>
            <a:endParaRPr lang="en-US" sz="3000" dirty="0"/>
          </a:p>
        </p:txBody>
      </p:sp>
      <p:sp>
        <p:nvSpPr>
          <p:cNvPr id="3" name="Shape 1"/>
          <p:cNvSpPr/>
          <p:nvPr/>
        </p:nvSpPr>
        <p:spPr>
          <a:xfrm>
            <a:off x="1005840" y="1234440"/>
            <a:ext cx="2011680" cy="685800"/>
          </a:xfrm>
          <a:prstGeom prst="roundRect">
            <a:avLst>
              <a:gd name="adj" fmla="val 10667"/>
            </a:avLst>
          </a:prstGeom>
          <a:solidFill>
            <a:srgbClr val="FFFFFF"/>
          </a:solidFill>
          <a:ln w="15875">
            <a:solidFill>
              <a:srgbClr val="2E86C1"/>
            </a:solidFill>
            <a:prstDash val="solid"/>
          </a:ln>
        </p:spPr>
      </p:sp>
      <p:pic>
        <p:nvPicPr>
          <p:cNvPr id="4" name="Image 0" descr="/home/claude/pptx_build/icons/client_0B3D91.png"/>
          <p:cNvPicPr>
            <a:picLocks noChangeAspect="1"/>
          </p:cNvPicPr>
          <p:nvPr/>
        </p:nvPicPr>
        <p:blipFill>
          <a:blip r:embed="rId3"/>
          <a:stretch>
            <a:fillRect/>
          </a:stretch>
        </p:blipFill>
        <p:spPr>
          <a:xfrm>
            <a:off x="1115568" y="1353312"/>
            <a:ext cx="457200" cy="457200"/>
          </a:xfrm>
          <a:prstGeom prst="rect">
            <a:avLst/>
          </a:prstGeom>
        </p:spPr>
      </p:pic>
      <p:sp>
        <p:nvSpPr>
          <p:cNvPr id="5" name="Text 2"/>
          <p:cNvSpPr/>
          <p:nvPr/>
        </p:nvSpPr>
        <p:spPr>
          <a:xfrm>
            <a:off x="1600200" y="1234440"/>
            <a:ext cx="1325880" cy="685800"/>
          </a:xfrm>
          <a:prstGeom prst="rect">
            <a:avLst/>
          </a:prstGeom>
          <a:noFill/>
          <a:ln/>
        </p:spPr>
        <p:txBody>
          <a:bodyPr wrap="square" rtlCol="0" anchor="ctr"/>
          <a:lstStyle/>
          <a:p>
            <a:pPr marL="0" indent="0">
              <a:buNone/>
            </a:pPr>
            <a:r>
              <a:rPr lang="en-US" sz="1250" b="1" dirty="0">
                <a:solidFill>
                  <a:srgbClr val="0B3D91"/>
                </a:solidFill>
                <a:latin typeface="Calibri" pitchFamily="34" charset="0"/>
                <a:ea typeface="Calibri" pitchFamily="34" charset="-122"/>
                <a:cs typeface="Calibri" pitchFamily="34" charset="-120"/>
              </a:rPr>
              <a:t>Client 1</a:t>
            </a:r>
            <a:endParaRPr lang="en-US" sz="1250" dirty="0"/>
          </a:p>
        </p:txBody>
      </p:sp>
      <p:sp>
        <p:nvSpPr>
          <p:cNvPr id="6" name="Shape 3"/>
          <p:cNvSpPr/>
          <p:nvPr/>
        </p:nvSpPr>
        <p:spPr>
          <a:xfrm>
            <a:off x="3520440" y="1234440"/>
            <a:ext cx="2011680" cy="685800"/>
          </a:xfrm>
          <a:prstGeom prst="roundRect">
            <a:avLst>
              <a:gd name="adj" fmla="val 10667"/>
            </a:avLst>
          </a:prstGeom>
          <a:solidFill>
            <a:srgbClr val="FFFFFF"/>
          </a:solidFill>
          <a:ln w="15875">
            <a:solidFill>
              <a:srgbClr val="2E86C1"/>
            </a:solidFill>
            <a:prstDash val="solid"/>
          </a:ln>
        </p:spPr>
      </p:sp>
      <p:pic>
        <p:nvPicPr>
          <p:cNvPr id="7" name="Image 1" descr="/home/claude/pptx_build/icons/client_0B3D91.png"/>
          <p:cNvPicPr>
            <a:picLocks noChangeAspect="1"/>
          </p:cNvPicPr>
          <p:nvPr/>
        </p:nvPicPr>
        <p:blipFill>
          <a:blip r:embed="rId3"/>
          <a:stretch>
            <a:fillRect/>
          </a:stretch>
        </p:blipFill>
        <p:spPr>
          <a:xfrm>
            <a:off x="3630168" y="1353312"/>
            <a:ext cx="457200" cy="457200"/>
          </a:xfrm>
          <a:prstGeom prst="rect">
            <a:avLst/>
          </a:prstGeom>
        </p:spPr>
      </p:pic>
      <p:sp>
        <p:nvSpPr>
          <p:cNvPr id="8" name="Text 4"/>
          <p:cNvSpPr/>
          <p:nvPr/>
        </p:nvSpPr>
        <p:spPr>
          <a:xfrm>
            <a:off x="4114800" y="1234440"/>
            <a:ext cx="1325880" cy="685800"/>
          </a:xfrm>
          <a:prstGeom prst="rect">
            <a:avLst/>
          </a:prstGeom>
          <a:noFill/>
          <a:ln/>
        </p:spPr>
        <p:txBody>
          <a:bodyPr wrap="square" rtlCol="0" anchor="ctr"/>
          <a:lstStyle/>
          <a:p>
            <a:pPr marL="0" indent="0">
              <a:buNone/>
            </a:pPr>
            <a:r>
              <a:rPr lang="en-US" sz="1250" b="1" dirty="0">
                <a:solidFill>
                  <a:srgbClr val="0B3D91"/>
                </a:solidFill>
                <a:latin typeface="Calibri" pitchFamily="34" charset="0"/>
                <a:ea typeface="Calibri" pitchFamily="34" charset="-122"/>
                <a:cs typeface="Calibri" pitchFamily="34" charset="-120"/>
              </a:rPr>
              <a:t>Client 2</a:t>
            </a:r>
            <a:endParaRPr lang="en-US" sz="1250" dirty="0"/>
          </a:p>
        </p:txBody>
      </p:sp>
      <p:sp>
        <p:nvSpPr>
          <p:cNvPr id="9" name="Shape 5"/>
          <p:cNvSpPr/>
          <p:nvPr/>
        </p:nvSpPr>
        <p:spPr>
          <a:xfrm>
            <a:off x="6035040" y="1234440"/>
            <a:ext cx="2011680" cy="685800"/>
          </a:xfrm>
          <a:prstGeom prst="roundRect">
            <a:avLst>
              <a:gd name="adj" fmla="val 10667"/>
            </a:avLst>
          </a:prstGeom>
          <a:solidFill>
            <a:srgbClr val="FFFFFF"/>
          </a:solidFill>
          <a:ln w="15875">
            <a:solidFill>
              <a:srgbClr val="2E86C1"/>
            </a:solidFill>
            <a:prstDash val="solid"/>
          </a:ln>
        </p:spPr>
      </p:sp>
      <p:pic>
        <p:nvPicPr>
          <p:cNvPr id="10" name="Image 2" descr="/home/claude/pptx_build/icons/client_0B3D91.png"/>
          <p:cNvPicPr>
            <a:picLocks noChangeAspect="1"/>
          </p:cNvPicPr>
          <p:nvPr/>
        </p:nvPicPr>
        <p:blipFill>
          <a:blip r:embed="rId3"/>
          <a:stretch>
            <a:fillRect/>
          </a:stretch>
        </p:blipFill>
        <p:spPr>
          <a:xfrm>
            <a:off x="6144768" y="1353312"/>
            <a:ext cx="457200" cy="457200"/>
          </a:xfrm>
          <a:prstGeom prst="rect">
            <a:avLst/>
          </a:prstGeom>
        </p:spPr>
      </p:pic>
      <p:sp>
        <p:nvSpPr>
          <p:cNvPr id="11" name="Text 6"/>
          <p:cNvSpPr/>
          <p:nvPr/>
        </p:nvSpPr>
        <p:spPr>
          <a:xfrm>
            <a:off x="6629400" y="1234440"/>
            <a:ext cx="1325880" cy="685800"/>
          </a:xfrm>
          <a:prstGeom prst="rect">
            <a:avLst/>
          </a:prstGeom>
          <a:noFill/>
          <a:ln/>
        </p:spPr>
        <p:txBody>
          <a:bodyPr wrap="square" rtlCol="0" anchor="ctr"/>
          <a:lstStyle/>
          <a:p>
            <a:pPr marL="0" indent="0">
              <a:buNone/>
            </a:pPr>
            <a:r>
              <a:rPr lang="en-US" sz="1250" b="1" dirty="0">
                <a:solidFill>
                  <a:srgbClr val="0B3D91"/>
                </a:solidFill>
                <a:latin typeface="Calibri" pitchFamily="34" charset="0"/>
                <a:ea typeface="Calibri" pitchFamily="34" charset="-122"/>
                <a:cs typeface="Calibri" pitchFamily="34" charset="-120"/>
              </a:rPr>
              <a:t>Client 3</a:t>
            </a:r>
            <a:endParaRPr lang="en-US" sz="1250" dirty="0"/>
          </a:p>
        </p:txBody>
      </p:sp>
      <p:sp>
        <p:nvSpPr>
          <p:cNvPr id="12" name="Shape 7"/>
          <p:cNvSpPr/>
          <p:nvPr/>
        </p:nvSpPr>
        <p:spPr>
          <a:xfrm>
            <a:off x="8549640" y="1234440"/>
            <a:ext cx="2011680" cy="685800"/>
          </a:xfrm>
          <a:prstGeom prst="roundRect">
            <a:avLst>
              <a:gd name="adj" fmla="val 10667"/>
            </a:avLst>
          </a:prstGeom>
          <a:solidFill>
            <a:srgbClr val="FFFFFF"/>
          </a:solidFill>
          <a:ln w="15875">
            <a:solidFill>
              <a:srgbClr val="2E86C1"/>
            </a:solidFill>
            <a:prstDash val="solid"/>
          </a:ln>
        </p:spPr>
      </p:sp>
      <p:pic>
        <p:nvPicPr>
          <p:cNvPr id="13" name="Image 3" descr="/home/claude/pptx_build/icons/client_0B3D91.png"/>
          <p:cNvPicPr>
            <a:picLocks noChangeAspect="1"/>
          </p:cNvPicPr>
          <p:nvPr/>
        </p:nvPicPr>
        <p:blipFill>
          <a:blip r:embed="rId3"/>
          <a:stretch>
            <a:fillRect/>
          </a:stretch>
        </p:blipFill>
        <p:spPr>
          <a:xfrm>
            <a:off x="8659368" y="1353312"/>
            <a:ext cx="457200" cy="457200"/>
          </a:xfrm>
          <a:prstGeom prst="rect">
            <a:avLst/>
          </a:prstGeom>
        </p:spPr>
      </p:pic>
      <p:sp>
        <p:nvSpPr>
          <p:cNvPr id="14" name="Text 8"/>
          <p:cNvSpPr/>
          <p:nvPr/>
        </p:nvSpPr>
        <p:spPr>
          <a:xfrm>
            <a:off x="9144000" y="1234440"/>
            <a:ext cx="1325880" cy="685800"/>
          </a:xfrm>
          <a:prstGeom prst="rect">
            <a:avLst/>
          </a:prstGeom>
          <a:noFill/>
          <a:ln/>
        </p:spPr>
        <p:txBody>
          <a:bodyPr wrap="square" rtlCol="0" anchor="ctr"/>
          <a:lstStyle/>
          <a:p>
            <a:pPr marL="0" indent="0">
              <a:buNone/>
            </a:pPr>
            <a:r>
              <a:rPr lang="en-US" sz="1250" b="1" dirty="0">
                <a:solidFill>
                  <a:srgbClr val="0B3D91"/>
                </a:solidFill>
                <a:latin typeface="Calibri" pitchFamily="34" charset="0"/>
                <a:ea typeface="Calibri" pitchFamily="34" charset="-122"/>
                <a:cs typeface="Calibri" pitchFamily="34" charset="-120"/>
              </a:rPr>
              <a:t>Client N</a:t>
            </a:r>
            <a:endParaRPr lang="en-US" sz="1250" dirty="0"/>
          </a:p>
        </p:txBody>
      </p:sp>
      <p:sp>
        <p:nvSpPr>
          <p:cNvPr id="15" name="Shape 9"/>
          <p:cNvSpPr/>
          <p:nvPr/>
        </p:nvSpPr>
        <p:spPr>
          <a:xfrm>
            <a:off x="2011680" y="1920240"/>
            <a:ext cx="0" cy="320040"/>
          </a:xfrm>
          <a:prstGeom prst="line">
            <a:avLst/>
          </a:prstGeom>
          <a:noFill/>
          <a:ln w="19050">
            <a:solidFill>
              <a:srgbClr val="6B8CAE"/>
            </a:solidFill>
            <a:prstDash val="dash"/>
          </a:ln>
        </p:spPr>
      </p:sp>
      <p:sp>
        <p:nvSpPr>
          <p:cNvPr id="16" name="Shape 10"/>
          <p:cNvSpPr/>
          <p:nvPr/>
        </p:nvSpPr>
        <p:spPr>
          <a:xfrm>
            <a:off x="4526280" y="1920240"/>
            <a:ext cx="0" cy="320040"/>
          </a:xfrm>
          <a:prstGeom prst="line">
            <a:avLst/>
          </a:prstGeom>
          <a:noFill/>
          <a:ln w="19050">
            <a:solidFill>
              <a:srgbClr val="6B8CAE"/>
            </a:solidFill>
            <a:prstDash val="dash"/>
          </a:ln>
        </p:spPr>
      </p:sp>
      <p:sp>
        <p:nvSpPr>
          <p:cNvPr id="17" name="Shape 11"/>
          <p:cNvSpPr/>
          <p:nvPr/>
        </p:nvSpPr>
        <p:spPr>
          <a:xfrm>
            <a:off x="7040880" y="1920240"/>
            <a:ext cx="0" cy="320040"/>
          </a:xfrm>
          <a:prstGeom prst="line">
            <a:avLst/>
          </a:prstGeom>
          <a:noFill/>
          <a:ln w="19050">
            <a:solidFill>
              <a:srgbClr val="6B8CAE"/>
            </a:solidFill>
            <a:prstDash val="dash"/>
          </a:ln>
        </p:spPr>
      </p:sp>
      <p:sp>
        <p:nvSpPr>
          <p:cNvPr id="18" name="Shape 12"/>
          <p:cNvSpPr/>
          <p:nvPr/>
        </p:nvSpPr>
        <p:spPr>
          <a:xfrm>
            <a:off x="9555480" y="1920240"/>
            <a:ext cx="0" cy="320040"/>
          </a:xfrm>
          <a:prstGeom prst="line">
            <a:avLst/>
          </a:prstGeom>
          <a:noFill/>
          <a:ln w="19050">
            <a:solidFill>
              <a:srgbClr val="6B8CAE"/>
            </a:solidFill>
            <a:prstDash val="dash"/>
          </a:ln>
        </p:spPr>
      </p:sp>
      <p:sp>
        <p:nvSpPr>
          <p:cNvPr id="19" name="Shape 13"/>
          <p:cNvSpPr/>
          <p:nvPr/>
        </p:nvSpPr>
        <p:spPr>
          <a:xfrm>
            <a:off x="1005840" y="2240280"/>
            <a:ext cx="9555480" cy="457200"/>
          </a:xfrm>
          <a:prstGeom prst="roundRect">
            <a:avLst>
              <a:gd name="adj" fmla="val 16000"/>
            </a:avLst>
          </a:prstGeom>
          <a:solidFill>
            <a:srgbClr val="00B4D8"/>
          </a:solidFill>
          <a:ln/>
        </p:spPr>
      </p:sp>
      <p:sp>
        <p:nvSpPr>
          <p:cNvPr id="20" name="Text 14"/>
          <p:cNvSpPr/>
          <p:nvPr/>
        </p:nvSpPr>
        <p:spPr>
          <a:xfrm>
            <a:off x="1005840" y="2240280"/>
            <a:ext cx="9555480" cy="457200"/>
          </a:xfrm>
          <a:prstGeom prst="rect">
            <a:avLst/>
          </a:prstGeom>
          <a:noFill/>
          <a:ln/>
        </p:spPr>
        <p:txBody>
          <a:bodyPr wrap="square" rtlCol="0" anchor="ctr"/>
          <a:lstStyle/>
          <a:p>
            <a:pPr marL="0" indent="0" algn="ctr">
              <a:buNone/>
            </a:pPr>
            <a:r>
              <a:rPr lang="en-US" sz="1200" b="1" dirty="0">
                <a:solidFill>
                  <a:srgbClr val="0B3D91"/>
                </a:solidFill>
                <a:latin typeface="Calibri" pitchFamily="34" charset="0"/>
                <a:ea typeface="Calibri" pitchFamily="34" charset="-122"/>
                <a:cs typeface="Calibri" pitchFamily="34" charset="-120"/>
              </a:rPr>
              <a:t>HTTP Requests  (Mobile Hotspot LAN — no HTTPS/TLS)</a:t>
            </a:r>
            <a:endParaRPr lang="en-US" sz="1200" dirty="0"/>
          </a:p>
        </p:txBody>
      </p:sp>
      <p:sp>
        <p:nvSpPr>
          <p:cNvPr id="21" name="Shape 15"/>
          <p:cNvSpPr/>
          <p:nvPr/>
        </p:nvSpPr>
        <p:spPr>
          <a:xfrm>
            <a:off x="5779008" y="2697480"/>
            <a:ext cx="0" cy="274320"/>
          </a:xfrm>
          <a:prstGeom prst="line">
            <a:avLst/>
          </a:prstGeom>
          <a:noFill/>
          <a:ln w="19050">
            <a:solidFill>
              <a:srgbClr val="6B8CAE"/>
            </a:solidFill>
            <a:prstDash val="dash"/>
          </a:ln>
        </p:spPr>
      </p:sp>
      <p:sp>
        <p:nvSpPr>
          <p:cNvPr id="22" name="Text 16"/>
          <p:cNvSpPr/>
          <p:nvPr/>
        </p:nvSpPr>
        <p:spPr>
          <a:xfrm>
            <a:off x="3950208" y="2971800"/>
            <a:ext cx="3657600" cy="320040"/>
          </a:xfrm>
          <a:prstGeom prst="rect">
            <a:avLst/>
          </a:prstGeom>
          <a:noFill/>
          <a:ln/>
        </p:spPr>
        <p:txBody>
          <a:bodyPr wrap="square" rtlCol="0" anchor="ctr"/>
          <a:lstStyle/>
          <a:p>
            <a:pPr marL="0" indent="0" algn="ctr">
              <a:buNone/>
            </a:pPr>
            <a:r>
              <a:rPr lang="en-US" sz="1250" b="1" i="1" dirty="0">
                <a:solidFill>
                  <a:srgbClr val="0B3D91"/>
                </a:solidFill>
                <a:latin typeface="Calibri" pitchFamily="34" charset="0"/>
                <a:ea typeface="Calibri" pitchFamily="34" charset="-122"/>
                <a:cs typeface="Calibri" pitchFamily="34" charset="-120"/>
              </a:rPr>
              <a:t>Laptop 2 — Edge Machine</a:t>
            </a:r>
            <a:endParaRPr lang="en-US" sz="1250" dirty="0"/>
          </a:p>
        </p:txBody>
      </p:sp>
      <p:sp>
        <p:nvSpPr>
          <p:cNvPr id="23" name="Shape 17"/>
          <p:cNvSpPr/>
          <p:nvPr/>
        </p:nvSpPr>
        <p:spPr>
          <a:xfrm>
            <a:off x="1463040" y="3383280"/>
            <a:ext cx="2651760" cy="1051560"/>
          </a:xfrm>
          <a:prstGeom prst="roundRect">
            <a:avLst>
              <a:gd name="adj" fmla="val 8696"/>
            </a:avLst>
          </a:prstGeom>
          <a:solidFill>
            <a:srgbClr val="0B3D91"/>
          </a:solidFill>
          <a:ln/>
          <a:effectLst>
            <a:outerShdw blurRad="63500" dist="25400" dir="5400000" algn="bl" rotWithShape="0">
              <a:srgbClr val="9AB4CC">
                <a:alpha val="30000"/>
              </a:srgbClr>
            </a:outerShdw>
          </a:effectLst>
        </p:spPr>
      </p:sp>
      <p:pic>
        <p:nvPicPr>
          <p:cNvPr id="24" name="Image 4" descr="/home/claude/pptx_build/icons/server_00B4D8.png"/>
          <p:cNvPicPr>
            <a:picLocks noChangeAspect="1"/>
          </p:cNvPicPr>
          <p:nvPr/>
        </p:nvPicPr>
        <p:blipFill>
          <a:blip r:embed="rId4"/>
          <a:stretch>
            <a:fillRect/>
          </a:stretch>
        </p:blipFill>
        <p:spPr>
          <a:xfrm>
            <a:off x="1600200" y="3520440"/>
            <a:ext cx="502920" cy="502920"/>
          </a:xfrm>
          <a:prstGeom prst="rect">
            <a:avLst/>
          </a:prstGeom>
        </p:spPr>
      </p:pic>
      <p:sp>
        <p:nvSpPr>
          <p:cNvPr id="25" name="Text 18"/>
          <p:cNvSpPr/>
          <p:nvPr/>
        </p:nvSpPr>
        <p:spPr>
          <a:xfrm>
            <a:off x="2194560" y="3474720"/>
            <a:ext cx="1828800" cy="29260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Edge Server 1</a:t>
            </a:r>
            <a:endParaRPr lang="en-US" sz="1250" dirty="0"/>
          </a:p>
        </p:txBody>
      </p:sp>
      <p:sp>
        <p:nvSpPr>
          <p:cNvPr id="26" name="Text 19"/>
          <p:cNvSpPr/>
          <p:nvPr/>
        </p:nvSpPr>
        <p:spPr>
          <a:xfrm>
            <a:off x="2194560" y="3767328"/>
            <a:ext cx="1828800" cy="256032"/>
          </a:xfrm>
          <a:prstGeom prst="rect">
            <a:avLst/>
          </a:prstGeom>
          <a:noFill/>
          <a:ln/>
        </p:spPr>
        <p:txBody>
          <a:bodyPr wrap="square" rtlCol="0" anchor="ctr"/>
          <a:lstStyle/>
          <a:p>
            <a:pPr marL="0" indent="0">
              <a:buNone/>
            </a:pPr>
            <a:r>
              <a:rPr lang="en-US" sz="1050" dirty="0">
                <a:solidFill>
                  <a:srgbClr val="5DADE2"/>
                </a:solidFill>
                <a:latin typeface="Calibri" pitchFamily="34" charset="0"/>
                <a:ea typeface="Calibri" pitchFamily="34" charset="-122"/>
                <a:cs typeface="Calibri" pitchFamily="34" charset="-120"/>
              </a:rPr>
              <a:t>Port 8001</a:t>
            </a:r>
            <a:endParaRPr lang="en-US" sz="1050" dirty="0"/>
          </a:p>
        </p:txBody>
      </p:sp>
      <p:sp>
        <p:nvSpPr>
          <p:cNvPr id="27" name="Text 20"/>
          <p:cNvSpPr/>
          <p:nvPr/>
        </p:nvSpPr>
        <p:spPr>
          <a:xfrm>
            <a:off x="2194560" y="4023360"/>
            <a:ext cx="1828800" cy="256032"/>
          </a:xfrm>
          <a:prstGeom prst="rect">
            <a:avLst/>
          </a:prstGeom>
          <a:noFill/>
          <a:ln/>
        </p:spPr>
        <p:txBody>
          <a:bodyPr wrap="square" rtlCol="0" anchor="ctr"/>
          <a:lstStyle/>
          <a:p>
            <a:pPr marL="0" indent="0">
              <a:buNone/>
            </a:pPr>
            <a:r>
              <a:rPr lang="en-US" sz="1050" dirty="0">
                <a:solidFill>
                  <a:srgbClr val="5DADE2"/>
                </a:solidFill>
                <a:latin typeface="Calibri" pitchFamily="34" charset="0"/>
                <a:ea typeface="Calibri" pitchFamily="34" charset="-122"/>
                <a:cs typeface="Calibri" pitchFamily="34" charset="-120"/>
              </a:rPr>
              <a:t>Images 1–7</a:t>
            </a:r>
            <a:endParaRPr lang="en-US" sz="1050" dirty="0"/>
          </a:p>
        </p:txBody>
      </p:sp>
      <p:sp>
        <p:nvSpPr>
          <p:cNvPr id="28" name="Shape 21"/>
          <p:cNvSpPr/>
          <p:nvPr/>
        </p:nvSpPr>
        <p:spPr>
          <a:xfrm>
            <a:off x="2788920" y="3291840"/>
            <a:ext cx="0" cy="91440"/>
          </a:xfrm>
          <a:prstGeom prst="line">
            <a:avLst/>
          </a:prstGeom>
          <a:noFill/>
          <a:ln w="19050">
            <a:solidFill>
              <a:srgbClr val="6B8CAE"/>
            </a:solidFill>
            <a:prstDash val="dash"/>
          </a:ln>
        </p:spPr>
      </p:sp>
      <p:sp>
        <p:nvSpPr>
          <p:cNvPr id="29" name="Shape 22"/>
          <p:cNvSpPr/>
          <p:nvPr/>
        </p:nvSpPr>
        <p:spPr>
          <a:xfrm>
            <a:off x="5029200" y="3383280"/>
            <a:ext cx="2651760" cy="1051560"/>
          </a:xfrm>
          <a:prstGeom prst="roundRect">
            <a:avLst>
              <a:gd name="adj" fmla="val 8696"/>
            </a:avLst>
          </a:prstGeom>
          <a:solidFill>
            <a:srgbClr val="0B3D91"/>
          </a:solidFill>
          <a:ln/>
          <a:effectLst>
            <a:outerShdw blurRad="63500" dist="25400" dir="5400000" algn="bl" rotWithShape="0">
              <a:srgbClr val="9AB4CC">
                <a:alpha val="30000"/>
              </a:srgbClr>
            </a:outerShdw>
          </a:effectLst>
        </p:spPr>
      </p:sp>
      <p:pic>
        <p:nvPicPr>
          <p:cNvPr id="30" name="Image 5" descr="/home/claude/pptx_build/icons/server_00B4D8.png"/>
          <p:cNvPicPr>
            <a:picLocks noChangeAspect="1"/>
          </p:cNvPicPr>
          <p:nvPr/>
        </p:nvPicPr>
        <p:blipFill>
          <a:blip r:embed="rId4"/>
          <a:stretch>
            <a:fillRect/>
          </a:stretch>
        </p:blipFill>
        <p:spPr>
          <a:xfrm>
            <a:off x="5166360" y="3520440"/>
            <a:ext cx="502920" cy="502920"/>
          </a:xfrm>
          <a:prstGeom prst="rect">
            <a:avLst/>
          </a:prstGeom>
        </p:spPr>
      </p:pic>
      <p:sp>
        <p:nvSpPr>
          <p:cNvPr id="31" name="Text 23"/>
          <p:cNvSpPr/>
          <p:nvPr/>
        </p:nvSpPr>
        <p:spPr>
          <a:xfrm>
            <a:off x="5760720" y="3474720"/>
            <a:ext cx="1828800" cy="29260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Edge Server 2</a:t>
            </a:r>
            <a:endParaRPr lang="en-US" sz="1250" dirty="0"/>
          </a:p>
        </p:txBody>
      </p:sp>
      <p:sp>
        <p:nvSpPr>
          <p:cNvPr id="32" name="Text 24"/>
          <p:cNvSpPr/>
          <p:nvPr/>
        </p:nvSpPr>
        <p:spPr>
          <a:xfrm>
            <a:off x="5760720" y="3767328"/>
            <a:ext cx="1828800" cy="256032"/>
          </a:xfrm>
          <a:prstGeom prst="rect">
            <a:avLst/>
          </a:prstGeom>
          <a:noFill/>
          <a:ln/>
        </p:spPr>
        <p:txBody>
          <a:bodyPr wrap="square" rtlCol="0" anchor="ctr"/>
          <a:lstStyle/>
          <a:p>
            <a:pPr marL="0" indent="0">
              <a:buNone/>
            </a:pPr>
            <a:r>
              <a:rPr lang="en-US" sz="1050" dirty="0">
                <a:solidFill>
                  <a:srgbClr val="5DADE2"/>
                </a:solidFill>
                <a:latin typeface="Calibri" pitchFamily="34" charset="0"/>
                <a:ea typeface="Calibri" pitchFamily="34" charset="-122"/>
                <a:cs typeface="Calibri" pitchFamily="34" charset="-120"/>
              </a:rPr>
              <a:t>Port 8002</a:t>
            </a:r>
            <a:endParaRPr lang="en-US" sz="1050" dirty="0"/>
          </a:p>
        </p:txBody>
      </p:sp>
      <p:sp>
        <p:nvSpPr>
          <p:cNvPr id="33" name="Text 25"/>
          <p:cNvSpPr/>
          <p:nvPr/>
        </p:nvSpPr>
        <p:spPr>
          <a:xfrm>
            <a:off x="5760720" y="4023360"/>
            <a:ext cx="1828800" cy="256032"/>
          </a:xfrm>
          <a:prstGeom prst="rect">
            <a:avLst/>
          </a:prstGeom>
          <a:noFill/>
          <a:ln/>
        </p:spPr>
        <p:txBody>
          <a:bodyPr wrap="square" rtlCol="0" anchor="ctr"/>
          <a:lstStyle/>
          <a:p>
            <a:pPr marL="0" indent="0">
              <a:buNone/>
            </a:pPr>
            <a:r>
              <a:rPr lang="en-US" sz="1050" dirty="0">
                <a:solidFill>
                  <a:srgbClr val="5DADE2"/>
                </a:solidFill>
                <a:latin typeface="Calibri" pitchFamily="34" charset="0"/>
                <a:ea typeface="Calibri" pitchFamily="34" charset="-122"/>
                <a:cs typeface="Calibri" pitchFamily="34" charset="-120"/>
              </a:rPr>
              <a:t>Images 8–14</a:t>
            </a:r>
            <a:endParaRPr lang="en-US" sz="1050" dirty="0"/>
          </a:p>
        </p:txBody>
      </p:sp>
      <p:sp>
        <p:nvSpPr>
          <p:cNvPr id="34" name="Shape 26"/>
          <p:cNvSpPr/>
          <p:nvPr/>
        </p:nvSpPr>
        <p:spPr>
          <a:xfrm>
            <a:off x="6355080" y="3291840"/>
            <a:ext cx="0" cy="91440"/>
          </a:xfrm>
          <a:prstGeom prst="line">
            <a:avLst/>
          </a:prstGeom>
          <a:noFill/>
          <a:ln w="19050">
            <a:solidFill>
              <a:srgbClr val="6B8CAE"/>
            </a:solidFill>
            <a:prstDash val="dash"/>
          </a:ln>
        </p:spPr>
      </p:sp>
      <p:sp>
        <p:nvSpPr>
          <p:cNvPr id="35" name="Shape 27"/>
          <p:cNvSpPr/>
          <p:nvPr/>
        </p:nvSpPr>
        <p:spPr>
          <a:xfrm>
            <a:off x="8595360" y="3383280"/>
            <a:ext cx="2651760" cy="1051560"/>
          </a:xfrm>
          <a:prstGeom prst="roundRect">
            <a:avLst>
              <a:gd name="adj" fmla="val 8696"/>
            </a:avLst>
          </a:prstGeom>
          <a:solidFill>
            <a:srgbClr val="0B3D91"/>
          </a:solidFill>
          <a:ln/>
          <a:effectLst>
            <a:outerShdw blurRad="63500" dist="25400" dir="5400000" algn="bl" rotWithShape="0">
              <a:srgbClr val="9AB4CC">
                <a:alpha val="30000"/>
              </a:srgbClr>
            </a:outerShdw>
          </a:effectLst>
        </p:spPr>
      </p:sp>
      <p:pic>
        <p:nvPicPr>
          <p:cNvPr id="36" name="Image 6" descr="/home/claude/pptx_build/icons/server_00B4D8.png"/>
          <p:cNvPicPr>
            <a:picLocks noChangeAspect="1"/>
          </p:cNvPicPr>
          <p:nvPr/>
        </p:nvPicPr>
        <p:blipFill>
          <a:blip r:embed="rId4"/>
          <a:stretch>
            <a:fillRect/>
          </a:stretch>
        </p:blipFill>
        <p:spPr>
          <a:xfrm>
            <a:off x="8732520" y="3520440"/>
            <a:ext cx="502920" cy="502920"/>
          </a:xfrm>
          <a:prstGeom prst="rect">
            <a:avLst/>
          </a:prstGeom>
        </p:spPr>
      </p:pic>
      <p:sp>
        <p:nvSpPr>
          <p:cNvPr id="37" name="Text 28"/>
          <p:cNvSpPr/>
          <p:nvPr/>
        </p:nvSpPr>
        <p:spPr>
          <a:xfrm>
            <a:off x="9326880" y="3474720"/>
            <a:ext cx="1828800" cy="29260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Edge Server 3</a:t>
            </a:r>
            <a:endParaRPr lang="en-US" sz="1250" dirty="0"/>
          </a:p>
        </p:txBody>
      </p:sp>
      <p:sp>
        <p:nvSpPr>
          <p:cNvPr id="38" name="Text 29"/>
          <p:cNvSpPr/>
          <p:nvPr/>
        </p:nvSpPr>
        <p:spPr>
          <a:xfrm>
            <a:off x="9326880" y="3767328"/>
            <a:ext cx="1828800" cy="256032"/>
          </a:xfrm>
          <a:prstGeom prst="rect">
            <a:avLst/>
          </a:prstGeom>
          <a:noFill/>
          <a:ln/>
        </p:spPr>
        <p:txBody>
          <a:bodyPr wrap="square" rtlCol="0" anchor="ctr"/>
          <a:lstStyle/>
          <a:p>
            <a:pPr marL="0" indent="0">
              <a:buNone/>
            </a:pPr>
            <a:r>
              <a:rPr lang="en-US" sz="1050" dirty="0">
                <a:solidFill>
                  <a:srgbClr val="5DADE2"/>
                </a:solidFill>
                <a:latin typeface="Calibri" pitchFamily="34" charset="0"/>
                <a:ea typeface="Calibri" pitchFamily="34" charset="-122"/>
                <a:cs typeface="Calibri" pitchFamily="34" charset="-120"/>
              </a:rPr>
              <a:t>Port 8003</a:t>
            </a:r>
            <a:endParaRPr lang="en-US" sz="1050" dirty="0"/>
          </a:p>
        </p:txBody>
      </p:sp>
      <p:sp>
        <p:nvSpPr>
          <p:cNvPr id="39" name="Text 30"/>
          <p:cNvSpPr/>
          <p:nvPr/>
        </p:nvSpPr>
        <p:spPr>
          <a:xfrm>
            <a:off x="9326880" y="4023360"/>
            <a:ext cx="1828800" cy="256032"/>
          </a:xfrm>
          <a:prstGeom prst="rect">
            <a:avLst/>
          </a:prstGeom>
          <a:noFill/>
          <a:ln/>
        </p:spPr>
        <p:txBody>
          <a:bodyPr wrap="square" rtlCol="0" anchor="ctr"/>
          <a:lstStyle/>
          <a:p>
            <a:pPr marL="0" indent="0">
              <a:buNone/>
            </a:pPr>
            <a:r>
              <a:rPr lang="en-US" sz="1050" dirty="0">
                <a:solidFill>
                  <a:srgbClr val="5DADE2"/>
                </a:solidFill>
                <a:latin typeface="Calibri" pitchFamily="34" charset="0"/>
                <a:ea typeface="Calibri" pitchFamily="34" charset="-122"/>
                <a:cs typeface="Calibri" pitchFamily="34" charset="-120"/>
              </a:rPr>
              <a:t>Images 15–21</a:t>
            </a:r>
            <a:endParaRPr lang="en-US" sz="1050" dirty="0"/>
          </a:p>
        </p:txBody>
      </p:sp>
      <p:sp>
        <p:nvSpPr>
          <p:cNvPr id="40" name="Shape 31"/>
          <p:cNvSpPr/>
          <p:nvPr/>
        </p:nvSpPr>
        <p:spPr>
          <a:xfrm>
            <a:off x="9921240" y="3291840"/>
            <a:ext cx="0" cy="91440"/>
          </a:xfrm>
          <a:prstGeom prst="line">
            <a:avLst/>
          </a:prstGeom>
          <a:noFill/>
          <a:ln w="19050">
            <a:solidFill>
              <a:srgbClr val="6B8CAE"/>
            </a:solidFill>
            <a:prstDash val="dash"/>
          </a:ln>
        </p:spPr>
      </p:sp>
      <p:sp>
        <p:nvSpPr>
          <p:cNvPr id="41" name="Shape 32"/>
          <p:cNvSpPr/>
          <p:nvPr/>
        </p:nvSpPr>
        <p:spPr>
          <a:xfrm>
            <a:off x="5779008" y="4434840"/>
            <a:ext cx="0" cy="274320"/>
          </a:xfrm>
          <a:prstGeom prst="line">
            <a:avLst/>
          </a:prstGeom>
          <a:noFill/>
          <a:ln w="19050">
            <a:solidFill>
              <a:srgbClr val="6B8CAE"/>
            </a:solidFill>
            <a:prstDash val="dash"/>
          </a:ln>
        </p:spPr>
      </p:sp>
      <p:sp>
        <p:nvSpPr>
          <p:cNvPr id="42" name="Shape 33"/>
          <p:cNvSpPr/>
          <p:nvPr/>
        </p:nvSpPr>
        <p:spPr>
          <a:xfrm>
            <a:off x="2377440" y="4709160"/>
            <a:ext cx="6766560" cy="411480"/>
          </a:xfrm>
          <a:prstGeom prst="roundRect">
            <a:avLst>
              <a:gd name="adj" fmla="val 17778"/>
            </a:avLst>
          </a:prstGeom>
          <a:solidFill>
            <a:srgbClr val="00B4D8"/>
          </a:solidFill>
          <a:ln/>
        </p:spPr>
      </p:sp>
      <p:sp>
        <p:nvSpPr>
          <p:cNvPr id="43" name="Text 34"/>
          <p:cNvSpPr/>
          <p:nvPr/>
        </p:nvSpPr>
        <p:spPr>
          <a:xfrm>
            <a:off x="2377440" y="4709160"/>
            <a:ext cx="6766560" cy="411480"/>
          </a:xfrm>
          <a:prstGeom prst="rect">
            <a:avLst/>
          </a:prstGeom>
          <a:noFill/>
          <a:ln/>
        </p:spPr>
        <p:txBody>
          <a:bodyPr wrap="square" rtlCol="0" anchor="ctr"/>
          <a:lstStyle/>
          <a:p>
            <a:pPr marL="0" indent="0" algn="ctr">
              <a:buNone/>
            </a:pPr>
            <a:r>
              <a:rPr lang="en-US" sz="1200" b="1" dirty="0">
                <a:solidFill>
                  <a:srgbClr val="0B3D91"/>
                </a:solidFill>
                <a:latin typeface="Calibri" pitchFamily="34" charset="0"/>
                <a:ea typeface="Calibri" pitchFamily="34" charset="-122"/>
                <a:cs typeface="Calibri" pitchFamily="34" charset="-120"/>
              </a:rPr>
              <a:t>HTTP Communication</a:t>
            </a:r>
            <a:endParaRPr lang="en-US" sz="1200" dirty="0"/>
          </a:p>
        </p:txBody>
      </p:sp>
      <p:sp>
        <p:nvSpPr>
          <p:cNvPr id="44" name="Shape 35"/>
          <p:cNvSpPr/>
          <p:nvPr/>
        </p:nvSpPr>
        <p:spPr>
          <a:xfrm>
            <a:off x="5779008" y="5120640"/>
            <a:ext cx="0" cy="365760"/>
          </a:xfrm>
          <a:prstGeom prst="line">
            <a:avLst/>
          </a:prstGeom>
          <a:noFill/>
          <a:ln w="19050">
            <a:solidFill>
              <a:srgbClr val="6B8CAE"/>
            </a:solidFill>
            <a:prstDash val="dash"/>
          </a:ln>
        </p:spPr>
      </p:sp>
      <p:sp>
        <p:nvSpPr>
          <p:cNvPr id="45" name="Shape 36"/>
          <p:cNvSpPr/>
          <p:nvPr/>
        </p:nvSpPr>
        <p:spPr>
          <a:xfrm>
            <a:off x="4023360" y="5486400"/>
            <a:ext cx="4160520" cy="960120"/>
          </a:xfrm>
          <a:prstGeom prst="roundRect">
            <a:avLst>
              <a:gd name="adj" fmla="val 9524"/>
            </a:avLst>
          </a:prstGeom>
          <a:solidFill>
            <a:srgbClr val="2E86C1"/>
          </a:solidFill>
          <a:ln/>
          <a:effectLst>
            <a:outerShdw blurRad="63500" dist="25400" dir="5400000" algn="bl" rotWithShape="0">
              <a:srgbClr val="9AB4CC">
                <a:alpha val="30000"/>
              </a:srgbClr>
            </a:outerShdw>
          </a:effectLst>
        </p:spPr>
      </p:sp>
      <p:pic>
        <p:nvPicPr>
          <p:cNvPr id="46" name="Image 7" descr="/home/claude/pptx_build/icons/cloud_FFFFFF.png"/>
          <p:cNvPicPr>
            <a:picLocks noChangeAspect="1"/>
          </p:cNvPicPr>
          <p:nvPr/>
        </p:nvPicPr>
        <p:blipFill>
          <a:blip r:embed="rId5"/>
          <a:stretch>
            <a:fillRect/>
          </a:stretch>
        </p:blipFill>
        <p:spPr>
          <a:xfrm>
            <a:off x="4187952" y="5650992"/>
            <a:ext cx="548640" cy="548640"/>
          </a:xfrm>
          <a:prstGeom prst="rect">
            <a:avLst/>
          </a:prstGeom>
        </p:spPr>
      </p:pic>
      <p:sp>
        <p:nvSpPr>
          <p:cNvPr id="47" name="Text 37"/>
          <p:cNvSpPr/>
          <p:nvPr/>
        </p:nvSpPr>
        <p:spPr>
          <a:xfrm>
            <a:off x="4846320" y="5559552"/>
            <a:ext cx="324612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Laptop 1 — Global Server</a:t>
            </a:r>
            <a:endParaRPr lang="en-US" sz="1300" dirty="0"/>
          </a:p>
        </p:txBody>
      </p:sp>
      <p:sp>
        <p:nvSpPr>
          <p:cNvPr id="48" name="Text 38"/>
          <p:cNvSpPr/>
          <p:nvPr/>
        </p:nvSpPr>
        <p:spPr>
          <a:xfrm>
            <a:off x="4846320" y="5870448"/>
            <a:ext cx="3246120" cy="502920"/>
          </a:xfrm>
          <a:prstGeom prst="rect">
            <a:avLst/>
          </a:prstGeom>
          <a:noFill/>
          <a:ln/>
        </p:spPr>
        <p:txBody>
          <a:bodyPr wrap="square" rtlCol="0" anchor="ctr"/>
          <a:lstStyle/>
          <a:p>
            <a:pPr marL="0" indent="0">
              <a:buNone/>
            </a:pPr>
            <a:r>
              <a:rPr lang="en-US" sz="1050" dirty="0">
                <a:solidFill>
                  <a:srgbClr val="F4F8FC"/>
                </a:solidFill>
                <a:latin typeface="Calibri" pitchFamily="34" charset="0"/>
                <a:ea typeface="Calibri" pitchFamily="34" charset="-122"/>
                <a:cs typeface="Calibri" pitchFamily="34" charset="-120"/>
              </a:rPr>
              <a:t>Port 5000 · Complete Dataset (Images 1–21)</a:t>
            </a:r>
            <a:endParaRPr lang="en-US" sz="1050" dirty="0"/>
          </a:p>
        </p:txBody>
      </p:sp>
      <p:sp>
        <p:nvSpPr>
          <p:cNvPr id="50" name="Text 40"/>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6B8CA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b="1" dirty="0">
                <a:solidFill>
                  <a:srgbClr val="0B3D91"/>
                </a:solidFill>
                <a:latin typeface="Cambria" pitchFamily="34" charset="0"/>
                <a:ea typeface="Cambria" pitchFamily="34" charset="-122"/>
                <a:cs typeface="Cambria" pitchFamily="34" charset="-120"/>
              </a:rPr>
              <a:t>Hardware &amp; Software Requirements</a:t>
            </a:r>
            <a:endParaRPr lang="en-US" sz="3000" dirty="0"/>
          </a:p>
        </p:txBody>
      </p:sp>
      <p:sp>
        <p:nvSpPr>
          <p:cNvPr id="3" name="Text 1"/>
          <p:cNvSpPr/>
          <p:nvPr/>
        </p:nvSpPr>
        <p:spPr>
          <a:xfrm>
            <a:off x="548640" y="1097280"/>
            <a:ext cx="5394960" cy="365760"/>
          </a:xfrm>
          <a:prstGeom prst="rect">
            <a:avLst/>
          </a:prstGeom>
          <a:noFill/>
          <a:ln/>
        </p:spPr>
        <p:txBody>
          <a:bodyPr wrap="square" rtlCol="0" anchor="ctr"/>
          <a:lstStyle/>
          <a:p>
            <a:pPr marL="0" indent="0">
              <a:buNone/>
            </a:pPr>
            <a:r>
              <a:rPr lang="en-US" sz="1600" b="1" dirty="0">
                <a:solidFill>
                  <a:srgbClr val="0B3D91"/>
                </a:solidFill>
                <a:latin typeface="Calibri" pitchFamily="34" charset="0"/>
                <a:ea typeface="Calibri" pitchFamily="34" charset="-122"/>
                <a:cs typeface="Calibri" pitchFamily="34" charset="-120"/>
              </a:rPr>
              <a:t>Hardware</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394960" cy="1828800"/>
        </p:xfrm>
        <a:graphic>
          <a:graphicData uri="http://schemas.openxmlformats.org/drawingml/2006/table">
            <a:tbl>
              <a:tblPr/>
              <a:tblGrid>
                <a:gridCol w="201168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45720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Device</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0B3D91"/>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0B3D91"/>
                    </a:solidFill>
                  </a:tcPr>
                </a:tc>
                <a:extLst>
                  <a:ext uri="{0D108BD9-81ED-4DB2-BD59-A6C34878D82A}">
                    <a16:rowId xmlns:a16="http://schemas.microsoft.com/office/drawing/2014/main" val="10000"/>
                  </a:ext>
                </a:extLst>
              </a:tr>
              <a:tr h="457200">
                <a:tc>
                  <a:txBody>
                    <a:bodyPr/>
                    <a:lstStyle/>
                    <a:p>
                      <a:pPr marL="0" indent="0" algn="l">
                        <a:buNone/>
                      </a:pPr>
                      <a:r>
                        <a:rPr lang="en-US" sz="1250" dirty="0">
                          <a:solidFill>
                            <a:srgbClr val="16324F"/>
                          </a:solidFill>
                          <a:latin typeface="Calibri" pitchFamily="34" charset="0"/>
                          <a:ea typeface="Calibri" pitchFamily="34" charset="-122"/>
                          <a:cs typeface="Calibri" pitchFamily="34" charset="-120"/>
                        </a:rPr>
                        <a:t>Laptop 1</a:t>
                      </a:r>
                      <a:endParaRPr lang="en-US" sz="125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6324F"/>
                          </a:solidFill>
                          <a:latin typeface="Calibri" pitchFamily="34" charset="0"/>
                          <a:ea typeface="Calibri" pitchFamily="34" charset="-122"/>
                          <a:cs typeface="Calibri" pitchFamily="34" charset="-120"/>
                        </a:rPr>
                        <a:t>Global Server</a:t>
                      </a:r>
                      <a:endParaRPr lang="en-US" sz="125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50" dirty="0">
                          <a:solidFill>
                            <a:srgbClr val="16324F"/>
                          </a:solidFill>
                          <a:latin typeface="Calibri" pitchFamily="34" charset="0"/>
                          <a:ea typeface="Calibri" pitchFamily="34" charset="-122"/>
                          <a:cs typeface="Calibri" pitchFamily="34" charset="-120"/>
                        </a:rPr>
                        <a:t>Laptop 2</a:t>
                      </a:r>
                      <a:endParaRPr lang="en-US" sz="125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4F8FC"/>
                    </a:solidFill>
                  </a:tcPr>
                </a:tc>
                <a:tc>
                  <a:txBody>
                    <a:bodyPr/>
                    <a:lstStyle/>
                    <a:p>
                      <a:pPr marL="0" indent="0" algn="l">
                        <a:buNone/>
                      </a:pPr>
                      <a:r>
                        <a:rPr lang="en-US" sz="1250" dirty="0">
                          <a:solidFill>
                            <a:srgbClr val="16324F"/>
                          </a:solidFill>
                          <a:latin typeface="Calibri" pitchFamily="34" charset="0"/>
                          <a:ea typeface="Calibri" pitchFamily="34" charset="-122"/>
                          <a:cs typeface="Calibri" pitchFamily="34" charset="-120"/>
                        </a:rPr>
                        <a:t>Three Edge Servers</a:t>
                      </a:r>
                      <a:endParaRPr lang="en-US" sz="125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4F8FC"/>
                    </a:solidFill>
                  </a:tcPr>
                </a:tc>
                <a:extLst>
                  <a:ext uri="{0D108BD9-81ED-4DB2-BD59-A6C34878D82A}">
                    <a16:rowId xmlns:a16="http://schemas.microsoft.com/office/drawing/2014/main" val="10002"/>
                  </a:ext>
                </a:extLst>
              </a:tr>
              <a:tr h="457200">
                <a:tc>
                  <a:txBody>
                    <a:bodyPr/>
                    <a:lstStyle/>
                    <a:p>
                      <a:pPr marL="0" indent="0" algn="l">
                        <a:buNone/>
                      </a:pPr>
                      <a:r>
                        <a:rPr lang="en-US" sz="1250" dirty="0">
                          <a:solidFill>
                            <a:srgbClr val="16324F"/>
                          </a:solidFill>
                          <a:latin typeface="Calibri" pitchFamily="34" charset="0"/>
                          <a:ea typeface="Calibri" pitchFamily="34" charset="-122"/>
                          <a:cs typeface="Calibri" pitchFamily="34" charset="-120"/>
                        </a:rPr>
                        <a:t>Laptop 3+</a:t>
                      </a:r>
                      <a:endParaRPr lang="en-US" sz="125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6324F"/>
                          </a:solidFill>
                          <a:latin typeface="Calibri" pitchFamily="34" charset="0"/>
                          <a:ea typeface="Calibri" pitchFamily="34" charset="-122"/>
                          <a:cs typeface="Calibri" pitchFamily="34" charset="-120"/>
                        </a:rPr>
                        <a:t>Multiple Clients</a:t>
                      </a:r>
                      <a:endParaRPr lang="en-US" sz="125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6263640" y="1097280"/>
            <a:ext cx="5394960" cy="365760"/>
          </a:xfrm>
          <a:prstGeom prst="rect">
            <a:avLst/>
          </a:prstGeom>
          <a:noFill/>
          <a:ln/>
        </p:spPr>
        <p:txBody>
          <a:bodyPr wrap="square" rtlCol="0" anchor="ctr"/>
          <a:lstStyle/>
          <a:p>
            <a:pPr marL="0" indent="0">
              <a:buNone/>
            </a:pPr>
            <a:r>
              <a:rPr lang="en-US" sz="1600" b="1" dirty="0">
                <a:solidFill>
                  <a:srgbClr val="0B3D91"/>
                </a:solidFill>
                <a:latin typeface="Calibri" pitchFamily="34" charset="0"/>
                <a:ea typeface="Calibri" pitchFamily="34" charset="-122"/>
                <a:cs typeface="Calibri" pitchFamily="34" charset="-120"/>
              </a:rPr>
              <a:t>Software</a:t>
            </a:r>
            <a:endParaRPr lang="en-US" sz="1600" dirty="0"/>
          </a:p>
        </p:txBody>
      </p:sp>
      <p:sp>
        <p:nvSpPr>
          <p:cNvPr id="4" name="Shape 3"/>
          <p:cNvSpPr/>
          <p:nvPr/>
        </p:nvSpPr>
        <p:spPr>
          <a:xfrm>
            <a:off x="6263640" y="1508760"/>
            <a:ext cx="2560320" cy="438912"/>
          </a:xfrm>
          <a:prstGeom prst="roundRect">
            <a:avLst>
              <a:gd name="adj" fmla="val 50000"/>
            </a:avLst>
          </a:prstGeom>
          <a:solidFill>
            <a:srgbClr val="FFFFFF"/>
          </a:solidFill>
          <a:ln w="12700">
            <a:solidFill>
              <a:srgbClr val="2E86C1"/>
            </a:solidFill>
            <a:prstDash val="solid"/>
          </a:ln>
        </p:spPr>
      </p:sp>
      <p:pic>
        <p:nvPicPr>
          <p:cNvPr id="7" name="Image 0" descr="/home/claude/pptx_build/icons/check_00B4D8.png"/>
          <p:cNvPicPr>
            <a:picLocks noChangeAspect="1"/>
          </p:cNvPicPr>
          <p:nvPr/>
        </p:nvPicPr>
        <p:blipFill>
          <a:blip r:embed="rId3"/>
          <a:stretch>
            <a:fillRect/>
          </a:stretch>
        </p:blipFill>
        <p:spPr>
          <a:xfrm>
            <a:off x="6355080" y="1591056"/>
            <a:ext cx="274320" cy="274320"/>
          </a:xfrm>
          <a:prstGeom prst="rect">
            <a:avLst/>
          </a:prstGeom>
        </p:spPr>
      </p:pic>
      <p:sp>
        <p:nvSpPr>
          <p:cNvPr id="8" name="Text 4"/>
          <p:cNvSpPr/>
          <p:nvPr/>
        </p:nvSpPr>
        <p:spPr>
          <a:xfrm>
            <a:off x="6720840" y="1508760"/>
            <a:ext cx="2011680" cy="438912"/>
          </a:xfrm>
          <a:prstGeom prst="rect">
            <a:avLst/>
          </a:prstGeom>
          <a:noFill/>
          <a:ln/>
        </p:spPr>
        <p:txBody>
          <a:bodyPr wrap="square" rtlCol="0" anchor="ctr"/>
          <a:lstStyle/>
          <a:p>
            <a:pPr marL="0" indent="0">
              <a:buNone/>
            </a:pPr>
            <a:r>
              <a:rPr lang="en-US" sz="1200" dirty="0">
                <a:solidFill>
                  <a:srgbClr val="16324F"/>
                </a:solidFill>
                <a:latin typeface="Calibri" pitchFamily="34" charset="0"/>
                <a:ea typeface="Calibri" pitchFamily="34" charset="-122"/>
                <a:cs typeface="Calibri" pitchFamily="34" charset="-120"/>
              </a:rPr>
              <a:t>Python 3</a:t>
            </a:r>
            <a:endParaRPr lang="en-US" sz="1200" dirty="0"/>
          </a:p>
        </p:txBody>
      </p:sp>
      <p:sp>
        <p:nvSpPr>
          <p:cNvPr id="9" name="Shape 5"/>
          <p:cNvSpPr/>
          <p:nvPr/>
        </p:nvSpPr>
        <p:spPr>
          <a:xfrm>
            <a:off x="6263640" y="2057400"/>
            <a:ext cx="2560320" cy="438912"/>
          </a:xfrm>
          <a:prstGeom prst="roundRect">
            <a:avLst>
              <a:gd name="adj" fmla="val 50000"/>
            </a:avLst>
          </a:prstGeom>
          <a:solidFill>
            <a:srgbClr val="FFFFFF"/>
          </a:solidFill>
          <a:ln w="12700">
            <a:solidFill>
              <a:srgbClr val="2E86C1"/>
            </a:solidFill>
            <a:prstDash val="solid"/>
          </a:ln>
        </p:spPr>
      </p:sp>
      <p:pic>
        <p:nvPicPr>
          <p:cNvPr id="10" name="Image 1" descr="/home/claude/pptx_build/icons/check_00B4D8.png"/>
          <p:cNvPicPr>
            <a:picLocks noChangeAspect="1"/>
          </p:cNvPicPr>
          <p:nvPr/>
        </p:nvPicPr>
        <p:blipFill>
          <a:blip r:embed="rId3"/>
          <a:stretch>
            <a:fillRect/>
          </a:stretch>
        </p:blipFill>
        <p:spPr>
          <a:xfrm>
            <a:off x="6355080" y="2139696"/>
            <a:ext cx="274320" cy="274320"/>
          </a:xfrm>
          <a:prstGeom prst="rect">
            <a:avLst/>
          </a:prstGeom>
        </p:spPr>
      </p:pic>
      <p:sp>
        <p:nvSpPr>
          <p:cNvPr id="11" name="Text 6"/>
          <p:cNvSpPr/>
          <p:nvPr/>
        </p:nvSpPr>
        <p:spPr>
          <a:xfrm>
            <a:off x="6720840" y="2057400"/>
            <a:ext cx="2011680" cy="438912"/>
          </a:xfrm>
          <a:prstGeom prst="rect">
            <a:avLst/>
          </a:prstGeom>
          <a:noFill/>
          <a:ln/>
        </p:spPr>
        <p:txBody>
          <a:bodyPr wrap="square" rtlCol="0" anchor="ctr"/>
          <a:lstStyle/>
          <a:p>
            <a:pPr marL="0" indent="0">
              <a:buNone/>
            </a:pPr>
            <a:r>
              <a:rPr lang="en-US" sz="1200" dirty="0">
                <a:solidFill>
                  <a:srgbClr val="16324F"/>
                </a:solidFill>
                <a:latin typeface="Calibri" pitchFamily="34" charset="0"/>
                <a:ea typeface="Calibri" pitchFamily="34" charset="-122"/>
                <a:cs typeface="Calibri" pitchFamily="34" charset="-120"/>
              </a:rPr>
              <a:t>Flask</a:t>
            </a:r>
            <a:endParaRPr lang="en-US" sz="1200" dirty="0"/>
          </a:p>
        </p:txBody>
      </p:sp>
      <p:sp>
        <p:nvSpPr>
          <p:cNvPr id="12" name="Shape 7"/>
          <p:cNvSpPr/>
          <p:nvPr/>
        </p:nvSpPr>
        <p:spPr>
          <a:xfrm>
            <a:off x="6263640" y="2606040"/>
            <a:ext cx="2560320" cy="438912"/>
          </a:xfrm>
          <a:prstGeom prst="roundRect">
            <a:avLst>
              <a:gd name="adj" fmla="val 50000"/>
            </a:avLst>
          </a:prstGeom>
          <a:solidFill>
            <a:srgbClr val="FFFFFF"/>
          </a:solidFill>
          <a:ln w="12700">
            <a:solidFill>
              <a:srgbClr val="2E86C1"/>
            </a:solidFill>
            <a:prstDash val="solid"/>
          </a:ln>
        </p:spPr>
      </p:sp>
      <p:pic>
        <p:nvPicPr>
          <p:cNvPr id="13" name="Image 2" descr="/home/claude/pptx_build/icons/check_00B4D8.png"/>
          <p:cNvPicPr>
            <a:picLocks noChangeAspect="1"/>
          </p:cNvPicPr>
          <p:nvPr/>
        </p:nvPicPr>
        <p:blipFill>
          <a:blip r:embed="rId3"/>
          <a:stretch>
            <a:fillRect/>
          </a:stretch>
        </p:blipFill>
        <p:spPr>
          <a:xfrm>
            <a:off x="6355080" y="2688336"/>
            <a:ext cx="274320" cy="274320"/>
          </a:xfrm>
          <a:prstGeom prst="rect">
            <a:avLst/>
          </a:prstGeom>
        </p:spPr>
      </p:pic>
      <p:sp>
        <p:nvSpPr>
          <p:cNvPr id="14" name="Text 8"/>
          <p:cNvSpPr/>
          <p:nvPr/>
        </p:nvSpPr>
        <p:spPr>
          <a:xfrm>
            <a:off x="6720840" y="2606040"/>
            <a:ext cx="2011680" cy="438912"/>
          </a:xfrm>
          <a:prstGeom prst="rect">
            <a:avLst/>
          </a:prstGeom>
          <a:noFill/>
          <a:ln/>
        </p:spPr>
        <p:txBody>
          <a:bodyPr wrap="square" rtlCol="0" anchor="ctr"/>
          <a:lstStyle/>
          <a:p>
            <a:pPr marL="0" indent="0">
              <a:buNone/>
            </a:pPr>
            <a:r>
              <a:rPr lang="en-US" sz="1200" dirty="0">
                <a:solidFill>
                  <a:srgbClr val="16324F"/>
                </a:solidFill>
                <a:latin typeface="Calibri" pitchFamily="34" charset="0"/>
                <a:ea typeface="Calibri" pitchFamily="34" charset="-122"/>
                <a:cs typeface="Calibri" pitchFamily="34" charset="-120"/>
              </a:rPr>
              <a:t>Requests Library</a:t>
            </a:r>
            <a:endParaRPr lang="en-US" sz="1200" dirty="0"/>
          </a:p>
        </p:txBody>
      </p:sp>
      <p:sp>
        <p:nvSpPr>
          <p:cNvPr id="15" name="Shape 9"/>
          <p:cNvSpPr/>
          <p:nvPr/>
        </p:nvSpPr>
        <p:spPr>
          <a:xfrm>
            <a:off x="6263640" y="3154680"/>
            <a:ext cx="2560320" cy="438912"/>
          </a:xfrm>
          <a:prstGeom prst="roundRect">
            <a:avLst>
              <a:gd name="adj" fmla="val 50000"/>
            </a:avLst>
          </a:prstGeom>
          <a:solidFill>
            <a:srgbClr val="FFFFFF"/>
          </a:solidFill>
          <a:ln w="12700">
            <a:solidFill>
              <a:srgbClr val="2E86C1"/>
            </a:solidFill>
            <a:prstDash val="solid"/>
          </a:ln>
        </p:spPr>
      </p:sp>
      <p:pic>
        <p:nvPicPr>
          <p:cNvPr id="16" name="Image 3" descr="/home/claude/pptx_build/icons/check_00B4D8.png"/>
          <p:cNvPicPr>
            <a:picLocks noChangeAspect="1"/>
          </p:cNvPicPr>
          <p:nvPr/>
        </p:nvPicPr>
        <p:blipFill>
          <a:blip r:embed="rId3"/>
          <a:stretch>
            <a:fillRect/>
          </a:stretch>
        </p:blipFill>
        <p:spPr>
          <a:xfrm>
            <a:off x="6355080" y="3236976"/>
            <a:ext cx="274320" cy="274320"/>
          </a:xfrm>
          <a:prstGeom prst="rect">
            <a:avLst/>
          </a:prstGeom>
        </p:spPr>
      </p:pic>
      <p:sp>
        <p:nvSpPr>
          <p:cNvPr id="17" name="Text 10"/>
          <p:cNvSpPr/>
          <p:nvPr/>
        </p:nvSpPr>
        <p:spPr>
          <a:xfrm>
            <a:off x="6720840" y="3154680"/>
            <a:ext cx="2011680" cy="438912"/>
          </a:xfrm>
          <a:prstGeom prst="rect">
            <a:avLst/>
          </a:prstGeom>
          <a:noFill/>
          <a:ln/>
        </p:spPr>
        <p:txBody>
          <a:bodyPr wrap="square" rtlCol="0" anchor="ctr"/>
          <a:lstStyle/>
          <a:p>
            <a:pPr marL="0" indent="0">
              <a:buNone/>
            </a:pPr>
            <a:r>
              <a:rPr lang="en-US" sz="1200" dirty="0">
                <a:solidFill>
                  <a:srgbClr val="16324F"/>
                </a:solidFill>
                <a:latin typeface="Calibri" pitchFamily="34" charset="0"/>
                <a:ea typeface="Calibri" pitchFamily="34" charset="-122"/>
                <a:cs typeface="Calibri" pitchFamily="34" charset="-120"/>
              </a:rPr>
              <a:t>Windows OS</a:t>
            </a:r>
            <a:endParaRPr lang="en-US" sz="1200" dirty="0"/>
          </a:p>
        </p:txBody>
      </p:sp>
      <p:sp>
        <p:nvSpPr>
          <p:cNvPr id="18" name="Shape 11"/>
          <p:cNvSpPr/>
          <p:nvPr/>
        </p:nvSpPr>
        <p:spPr>
          <a:xfrm>
            <a:off x="9006840" y="1508760"/>
            <a:ext cx="2560320" cy="438912"/>
          </a:xfrm>
          <a:prstGeom prst="roundRect">
            <a:avLst>
              <a:gd name="adj" fmla="val 50000"/>
            </a:avLst>
          </a:prstGeom>
          <a:solidFill>
            <a:srgbClr val="FFFFFF"/>
          </a:solidFill>
          <a:ln w="12700">
            <a:solidFill>
              <a:srgbClr val="2E86C1"/>
            </a:solidFill>
            <a:prstDash val="solid"/>
          </a:ln>
        </p:spPr>
      </p:sp>
      <p:pic>
        <p:nvPicPr>
          <p:cNvPr id="19" name="Image 4" descr="/home/claude/pptx_build/icons/check_00B4D8.png"/>
          <p:cNvPicPr>
            <a:picLocks noChangeAspect="1"/>
          </p:cNvPicPr>
          <p:nvPr/>
        </p:nvPicPr>
        <p:blipFill>
          <a:blip r:embed="rId3"/>
          <a:stretch>
            <a:fillRect/>
          </a:stretch>
        </p:blipFill>
        <p:spPr>
          <a:xfrm>
            <a:off x="9098280" y="1591056"/>
            <a:ext cx="274320" cy="274320"/>
          </a:xfrm>
          <a:prstGeom prst="rect">
            <a:avLst/>
          </a:prstGeom>
        </p:spPr>
      </p:pic>
      <p:sp>
        <p:nvSpPr>
          <p:cNvPr id="20" name="Text 12"/>
          <p:cNvSpPr/>
          <p:nvPr/>
        </p:nvSpPr>
        <p:spPr>
          <a:xfrm>
            <a:off x="9464040" y="1508760"/>
            <a:ext cx="2011680" cy="438912"/>
          </a:xfrm>
          <a:prstGeom prst="rect">
            <a:avLst/>
          </a:prstGeom>
          <a:noFill/>
          <a:ln/>
        </p:spPr>
        <p:txBody>
          <a:bodyPr wrap="square" rtlCol="0" anchor="ctr"/>
          <a:lstStyle/>
          <a:p>
            <a:pPr marL="0" indent="0">
              <a:buNone/>
            </a:pPr>
            <a:r>
              <a:rPr lang="en-US" sz="1200" dirty="0">
                <a:solidFill>
                  <a:srgbClr val="16324F"/>
                </a:solidFill>
                <a:latin typeface="Calibri" pitchFamily="34" charset="0"/>
                <a:ea typeface="Calibri" pitchFamily="34" charset="-122"/>
                <a:cs typeface="Calibri" pitchFamily="34" charset="-120"/>
              </a:rPr>
              <a:t>HTTP Protocol</a:t>
            </a:r>
            <a:endParaRPr lang="en-US" sz="1200" dirty="0"/>
          </a:p>
        </p:txBody>
      </p:sp>
      <p:sp>
        <p:nvSpPr>
          <p:cNvPr id="21" name="Shape 13"/>
          <p:cNvSpPr/>
          <p:nvPr/>
        </p:nvSpPr>
        <p:spPr>
          <a:xfrm>
            <a:off x="9006840" y="2057400"/>
            <a:ext cx="2560320" cy="438912"/>
          </a:xfrm>
          <a:prstGeom prst="roundRect">
            <a:avLst>
              <a:gd name="adj" fmla="val 50000"/>
            </a:avLst>
          </a:prstGeom>
          <a:solidFill>
            <a:srgbClr val="FFFFFF"/>
          </a:solidFill>
          <a:ln w="12700">
            <a:solidFill>
              <a:srgbClr val="2E86C1"/>
            </a:solidFill>
            <a:prstDash val="solid"/>
          </a:ln>
        </p:spPr>
      </p:sp>
      <p:pic>
        <p:nvPicPr>
          <p:cNvPr id="22" name="Image 5" descr="/home/claude/pptx_build/icons/check_00B4D8.png"/>
          <p:cNvPicPr>
            <a:picLocks noChangeAspect="1"/>
          </p:cNvPicPr>
          <p:nvPr/>
        </p:nvPicPr>
        <p:blipFill>
          <a:blip r:embed="rId3"/>
          <a:stretch>
            <a:fillRect/>
          </a:stretch>
        </p:blipFill>
        <p:spPr>
          <a:xfrm>
            <a:off x="9098280" y="2139696"/>
            <a:ext cx="274320" cy="274320"/>
          </a:xfrm>
          <a:prstGeom prst="rect">
            <a:avLst/>
          </a:prstGeom>
        </p:spPr>
      </p:pic>
      <p:sp>
        <p:nvSpPr>
          <p:cNvPr id="23" name="Text 14"/>
          <p:cNvSpPr/>
          <p:nvPr/>
        </p:nvSpPr>
        <p:spPr>
          <a:xfrm>
            <a:off x="9464040" y="2057400"/>
            <a:ext cx="2011680" cy="438912"/>
          </a:xfrm>
          <a:prstGeom prst="rect">
            <a:avLst/>
          </a:prstGeom>
          <a:noFill/>
          <a:ln/>
        </p:spPr>
        <p:txBody>
          <a:bodyPr wrap="square" rtlCol="0" anchor="ctr"/>
          <a:lstStyle/>
          <a:p>
            <a:pPr marL="0" indent="0">
              <a:buNone/>
            </a:pPr>
            <a:r>
              <a:rPr lang="en-US" sz="1200" dirty="0">
                <a:solidFill>
                  <a:srgbClr val="16324F"/>
                </a:solidFill>
                <a:latin typeface="Calibri" pitchFamily="34" charset="0"/>
                <a:ea typeface="Calibri" pitchFamily="34" charset="-122"/>
                <a:cs typeface="Calibri" pitchFamily="34" charset="-120"/>
              </a:rPr>
              <a:t>TCP/IP</a:t>
            </a:r>
            <a:endParaRPr lang="en-US" sz="1200" dirty="0"/>
          </a:p>
        </p:txBody>
      </p:sp>
      <p:sp>
        <p:nvSpPr>
          <p:cNvPr id="24" name="Shape 15"/>
          <p:cNvSpPr/>
          <p:nvPr/>
        </p:nvSpPr>
        <p:spPr>
          <a:xfrm>
            <a:off x="9006840" y="2606040"/>
            <a:ext cx="2560320" cy="438912"/>
          </a:xfrm>
          <a:prstGeom prst="roundRect">
            <a:avLst>
              <a:gd name="adj" fmla="val 50000"/>
            </a:avLst>
          </a:prstGeom>
          <a:solidFill>
            <a:srgbClr val="FFFFFF"/>
          </a:solidFill>
          <a:ln w="12700">
            <a:solidFill>
              <a:srgbClr val="2E86C1"/>
            </a:solidFill>
            <a:prstDash val="solid"/>
          </a:ln>
        </p:spPr>
      </p:sp>
      <p:pic>
        <p:nvPicPr>
          <p:cNvPr id="25" name="Image 6" descr="/home/claude/pptx_build/icons/check_00B4D8.png"/>
          <p:cNvPicPr>
            <a:picLocks noChangeAspect="1"/>
          </p:cNvPicPr>
          <p:nvPr/>
        </p:nvPicPr>
        <p:blipFill>
          <a:blip r:embed="rId3"/>
          <a:stretch>
            <a:fillRect/>
          </a:stretch>
        </p:blipFill>
        <p:spPr>
          <a:xfrm>
            <a:off x="9098280" y="2688336"/>
            <a:ext cx="274320" cy="274320"/>
          </a:xfrm>
          <a:prstGeom prst="rect">
            <a:avLst/>
          </a:prstGeom>
        </p:spPr>
      </p:pic>
      <p:sp>
        <p:nvSpPr>
          <p:cNvPr id="26" name="Text 16"/>
          <p:cNvSpPr/>
          <p:nvPr/>
        </p:nvSpPr>
        <p:spPr>
          <a:xfrm>
            <a:off x="9464040" y="2606040"/>
            <a:ext cx="2011680" cy="438912"/>
          </a:xfrm>
          <a:prstGeom prst="rect">
            <a:avLst/>
          </a:prstGeom>
          <a:noFill/>
          <a:ln/>
        </p:spPr>
        <p:txBody>
          <a:bodyPr wrap="square" rtlCol="0" anchor="ctr"/>
          <a:lstStyle/>
          <a:p>
            <a:pPr marL="0" indent="0">
              <a:buNone/>
            </a:pPr>
            <a:r>
              <a:rPr lang="en-US" sz="1200" dirty="0">
                <a:solidFill>
                  <a:srgbClr val="16324F"/>
                </a:solidFill>
                <a:latin typeface="Calibri" pitchFamily="34" charset="0"/>
                <a:ea typeface="Calibri" pitchFamily="34" charset="-122"/>
                <a:cs typeface="Calibri" pitchFamily="34" charset="-120"/>
              </a:rPr>
              <a:t>VS Code</a:t>
            </a:r>
            <a:endParaRPr lang="en-US" sz="1200" dirty="0"/>
          </a:p>
        </p:txBody>
      </p:sp>
      <p:sp>
        <p:nvSpPr>
          <p:cNvPr id="27" name="Shape 17"/>
          <p:cNvSpPr/>
          <p:nvPr/>
        </p:nvSpPr>
        <p:spPr>
          <a:xfrm>
            <a:off x="548640" y="3749040"/>
            <a:ext cx="11109960" cy="2651760"/>
          </a:xfrm>
          <a:prstGeom prst="roundRect">
            <a:avLst>
              <a:gd name="adj" fmla="val 4828"/>
            </a:avLst>
          </a:prstGeom>
          <a:solidFill>
            <a:srgbClr val="0B3D91"/>
          </a:solidFill>
          <a:ln/>
        </p:spPr>
      </p:sp>
      <p:sp>
        <p:nvSpPr>
          <p:cNvPr id="28" name="Text 18"/>
          <p:cNvSpPr/>
          <p:nvPr/>
        </p:nvSpPr>
        <p:spPr>
          <a:xfrm>
            <a:off x="868680" y="3931920"/>
            <a:ext cx="54864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Deployment Snapshot</a:t>
            </a:r>
            <a:endParaRPr lang="en-US" sz="1500" dirty="0"/>
          </a:p>
        </p:txBody>
      </p:sp>
      <p:sp>
        <p:nvSpPr>
          <p:cNvPr id="29" name="Shape 19"/>
          <p:cNvSpPr/>
          <p:nvPr/>
        </p:nvSpPr>
        <p:spPr>
          <a:xfrm>
            <a:off x="914400" y="4526280"/>
            <a:ext cx="822960" cy="822960"/>
          </a:xfrm>
          <a:prstGeom prst="ellipse">
            <a:avLst/>
          </a:prstGeom>
          <a:solidFill>
            <a:srgbClr val="00B4D8"/>
          </a:solidFill>
          <a:ln/>
        </p:spPr>
      </p:sp>
      <p:pic>
        <p:nvPicPr>
          <p:cNvPr id="30" name="Image 7" descr="/home/claude/pptx_build/icons/cloud_0B3D91.png"/>
          <p:cNvPicPr>
            <a:picLocks noChangeAspect="1"/>
          </p:cNvPicPr>
          <p:nvPr/>
        </p:nvPicPr>
        <p:blipFill>
          <a:blip r:embed="rId4"/>
          <a:stretch>
            <a:fillRect/>
          </a:stretch>
        </p:blipFill>
        <p:spPr>
          <a:xfrm>
            <a:off x="1013155" y="4625035"/>
            <a:ext cx="625450" cy="625450"/>
          </a:xfrm>
          <a:prstGeom prst="rect">
            <a:avLst/>
          </a:prstGeom>
        </p:spPr>
      </p:pic>
      <p:sp>
        <p:nvSpPr>
          <p:cNvPr id="31" name="Text 20"/>
          <p:cNvSpPr/>
          <p:nvPr/>
        </p:nvSpPr>
        <p:spPr>
          <a:xfrm>
            <a:off x="594360" y="5440680"/>
            <a:ext cx="14630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Laptop 1</a:t>
            </a:r>
            <a:endParaRPr lang="en-US" sz="1350" dirty="0"/>
          </a:p>
        </p:txBody>
      </p:sp>
      <p:sp>
        <p:nvSpPr>
          <p:cNvPr id="32" name="Text 21"/>
          <p:cNvSpPr/>
          <p:nvPr/>
        </p:nvSpPr>
        <p:spPr>
          <a:xfrm>
            <a:off x="365760" y="5742432"/>
            <a:ext cx="1920240" cy="502920"/>
          </a:xfrm>
          <a:prstGeom prst="rect">
            <a:avLst/>
          </a:prstGeom>
          <a:noFill/>
          <a:ln/>
        </p:spPr>
        <p:txBody>
          <a:bodyPr wrap="square" rtlCol="0" anchor="ctr"/>
          <a:lstStyle/>
          <a:p>
            <a:pPr marL="0" indent="0" algn="ctr">
              <a:buNone/>
            </a:pPr>
            <a:r>
              <a:rPr lang="en-US" sz="1050" dirty="0">
                <a:solidFill>
                  <a:srgbClr val="5DADE2"/>
                </a:solidFill>
                <a:latin typeface="Calibri" pitchFamily="34" charset="0"/>
                <a:ea typeface="Calibri" pitchFamily="34" charset="-122"/>
                <a:cs typeface="Calibri" pitchFamily="34" charset="-120"/>
              </a:rPr>
              <a:t>Global Server · Port 5000</a:t>
            </a:r>
            <a:endParaRPr lang="en-US" sz="1050" dirty="0"/>
          </a:p>
        </p:txBody>
      </p:sp>
      <p:sp>
        <p:nvSpPr>
          <p:cNvPr id="33" name="Shape 22"/>
          <p:cNvSpPr/>
          <p:nvPr/>
        </p:nvSpPr>
        <p:spPr>
          <a:xfrm>
            <a:off x="4480560" y="4526280"/>
            <a:ext cx="822960" cy="822960"/>
          </a:xfrm>
          <a:prstGeom prst="ellipse">
            <a:avLst/>
          </a:prstGeom>
          <a:solidFill>
            <a:srgbClr val="00B4D8"/>
          </a:solidFill>
          <a:ln/>
        </p:spPr>
      </p:sp>
      <p:pic>
        <p:nvPicPr>
          <p:cNvPr id="34" name="Image 8" descr="/home/claude/pptx_build/icons/server_0B3D91.png"/>
          <p:cNvPicPr>
            <a:picLocks noChangeAspect="1"/>
          </p:cNvPicPr>
          <p:nvPr/>
        </p:nvPicPr>
        <p:blipFill>
          <a:blip r:embed="rId5"/>
          <a:stretch>
            <a:fillRect/>
          </a:stretch>
        </p:blipFill>
        <p:spPr>
          <a:xfrm>
            <a:off x="4579315" y="4625035"/>
            <a:ext cx="625450" cy="625450"/>
          </a:xfrm>
          <a:prstGeom prst="rect">
            <a:avLst/>
          </a:prstGeom>
        </p:spPr>
      </p:pic>
      <p:sp>
        <p:nvSpPr>
          <p:cNvPr id="35" name="Text 23"/>
          <p:cNvSpPr/>
          <p:nvPr/>
        </p:nvSpPr>
        <p:spPr>
          <a:xfrm>
            <a:off x="4160520" y="5440680"/>
            <a:ext cx="14630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Laptop 2</a:t>
            </a:r>
            <a:endParaRPr lang="en-US" sz="1350" dirty="0"/>
          </a:p>
        </p:txBody>
      </p:sp>
      <p:sp>
        <p:nvSpPr>
          <p:cNvPr id="36" name="Text 24"/>
          <p:cNvSpPr/>
          <p:nvPr/>
        </p:nvSpPr>
        <p:spPr>
          <a:xfrm>
            <a:off x="3931920" y="5742432"/>
            <a:ext cx="1920240" cy="502920"/>
          </a:xfrm>
          <a:prstGeom prst="rect">
            <a:avLst/>
          </a:prstGeom>
          <a:noFill/>
          <a:ln/>
        </p:spPr>
        <p:txBody>
          <a:bodyPr wrap="square" rtlCol="0" anchor="ctr"/>
          <a:lstStyle/>
          <a:p>
            <a:pPr marL="0" indent="0" algn="ctr">
              <a:buNone/>
            </a:pPr>
            <a:r>
              <a:rPr lang="en-US" sz="1050" dirty="0">
                <a:solidFill>
                  <a:srgbClr val="5DADE2"/>
                </a:solidFill>
                <a:latin typeface="Calibri" pitchFamily="34" charset="0"/>
                <a:ea typeface="Calibri" pitchFamily="34" charset="-122"/>
                <a:cs typeface="Calibri" pitchFamily="34" charset="-120"/>
              </a:rPr>
              <a:t>Edge 1 / Edge 2 / Edge 3</a:t>
            </a:r>
            <a:endParaRPr lang="en-US" sz="1050" dirty="0"/>
          </a:p>
        </p:txBody>
      </p:sp>
      <p:sp>
        <p:nvSpPr>
          <p:cNvPr id="37" name="Shape 25"/>
          <p:cNvSpPr/>
          <p:nvPr/>
        </p:nvSpPr>
        <p:spPr>
          <a:xfrm>
            <a:off x="8046720" y="4526280"/>
            <a:ext cx="822960" cy="822960"/>
          </a:xfrm>
          <a:prstGeom prst="ellipse">
            <a:avLst/>
          </a:prstGeom>
          <a:solidFill>
            <a:srgbClr val="00B4D8"/>
          </a:solidFill>
          <a:ln/>
        </p:spPr>
      </p:sp>
      <p:pic>
        <p:nvPicPr>
          <p:cNvPr id="38" name="Image 9" descr="/home/claude/pptx_build/icons/client_0B3D91.png"/>
          <p:cNvPicPr>
            <a:picLocks noChangeAspect="1"/>
          </p:cNvPicPr>
          <p:nvPr/>
        </p:nvPicPr>
        <p:blipFill>
          <a:blip r:embed="rId6"/>
          <a:stretch>
            <a:fillRect/>
          </a:stretch>
        </p:blipFill>
        <p:spPr>
          <a:xfrm>
            <a:off x="8145475" y="4625035"/>
            <a:ext cx="625450" cy="625450"/>
          </a:xfrm>
          <a:prstGeom prst="rect">
            <a:avLst/>
          </a:prstGeom>
        </p:spPr>
      </p:pic>
      <p:sp>
        <p:nvSpPr>
          <p:cNvPr id="39" name="Text 26"/>
          <p:cNvSpPr/>
          <p:nvPr/>
        </p:nvSpPr>
        <p:spPr>
          <a:xfrm>
            <a:off x="7726680" y="5440680"/>
            <a:ext cx="14630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Laptop 3+</a:t>
            </a:r>
            <a:endParaRPr lang="en-US" sz="1350" dirty="0"/>
          </a:p>
        </p:txBody>
      </p:sp>
      <p:sp>
        <p:nvSpPr>
          <p:cNvPr id="40" name="Text 27"/>
          <p:cNvSpPr/>
          <p:nvPr/>
        </p:nvSpPr>
        <p:spPr>
          <a:xfrm>
            <a:off x="7498080" y="5742432"/>
            <a:ext cx="1920240" cy="502920"/>
          </a:xfrm>
          <a:prstGeom prst="rect">
            <a:avLst/>
          </a:prstGeom>
          <a:noFill/>
          <a:ln/>
        </p:spPr>
        <p:txBody>
          <a:bodyPr wrap="square" rtlCol="0" anchor="ctr"/>
          <a:lstStyle/>
          <a:p>
            <a:pPr marL="0" indent="0" algn="ctr">
              <a:buNone/>
            </a:pPr>
            <a:r>
              <a:rPr lang="en-US" sz="1050" dirty="0">
                <a:solidFill>
                  <a:srgbClr val="5DADE2"/>
                </a:solidFill>
                <a:latin typeface="Calibri" pitchFamily="34" charset="0"/>
                <a:ea typeface="Calibri" pitchFamily="34" charset="-122"/>
                <a:cs typeface="Calibri" pitchFamily="34" charset="-120"/>
              </a:rPr>
              <a:t>Client Requests</a:t>
            </a:r>
            <a:endParaRPr lang="en-US" sz="1050" dirty="0"/>
          </a:p>
        </p:txBody>
      </p:sp>
      <p:sp>
        <p:nvSpPr>
          <p:cNvPr id="41" name="Shape 28"/>
          <p:cNvSpPr/>
          <p:nvPr/>
        </p:nvSpPr>
        <p:spPr>
          <a:xfrm>
            <a:off x="1874520" y="4828032"/>
            <a:ext cx="2651760" cy="228600"/>
          </a:xfrm>
          <a:prstGeom prst="rightArrow">
            <a:avLst/>
          </a:prstGeom>
          <a:solidFill>
            <a:srgbClr val="00B4D8"/>
          </a:solidFill>
          <a:ln/>
        </p:spPr>
      </p:sp>
      <p:sp>
        <p:nvSpPr>
          <p:cNvPr id="42" name="Shape 29"/>
          <p:cNvSpPr/>
          <p:nvPr/>
        </p:nvSpPr>
        <p:spPr>
          <a:xfrm>
            <a:off x="5440680" y="4828032"/>
            <a:ext cx="2651760" cy="228600"/>
          </a:xfrm>
          <a:prstGeom prst="rightArrow">
            <a:avLst/>
          </a:prstGeom>
          <a:solidFill>
            <a:srgbClr val="00B4D8"/>
          </a:solidFill>
          <a:ln/>
        </p:spPr>
      </p:sp>
      <p:sp>
        <p:nvSpPr>
          <p:cNvPr id="44" name="Text 31"/>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6B8CA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b="1" dirty="0">
                <a:solidFill>
                  <a:srgbClr val="0B3D91"/>
                </a:solidFill>
                <a:latin typeface="Cambria" pitchFamily="34" charset="0"/>
                <a:ea typeface="Cambria" pitchFamily="34" charset="-122"/>
                <a:cs typeface="Cambria" pitchFamily="34" charset="-120"/>
              </a:rPr>
              <a:t>Working Methodology</a:t>
            </a:r>
            <a:endParaRPr lang="en-US" sz="3000" dirty="0"/>
          </a:p>
        </p:txBody>
      </p:sp>
      <p:sp>
        <p:nvSpPr>
          <p:cNvPr id="3" name="Shape 1"/>
          <p:cNvSpPr/>
          <p:nvPr/>
        </p:nvSpPr>
        <p:spPr>
          <a:xfrm>
            <a:off x="3429000" y="1051560"/>
            <a:ext cx="2331720" cy="566928"/>
          </a:xfrm>
          <a:prstGeom prst="roundRect">
            <a:avLst>
              <a:gd name="adj" fmla="val 16129"/>
            </a:avLst>
          </a:prstGeom>
          <a:solidFill>
            <a:srgbClr val="0B3D91"/>
          </a:solidFill>
          <a:ln/>
        </p:spPr>
      </p:sp>
      <p:sp>
        <p:nvSpPr>
          <p:cNvPr id="4" name="Text 2"/>
          <p:cNvSpPr/>
          <p:nvPr/>
        </p:nvSpPr>
        <p:spPr>
          <a:xfrm>
            <a:off x="3429000" y="1051560"/>
            <a:ext cx="23317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Client Sends HTTP Request</a:t>
            </a:r>
            <a:endParaRPr lang="en-US" sz="1150" dirty="0"/>
          </a:p>
        </p:txBody>
      </p:sp>
      <p:sp>
        <p:nvSpPr>
          <p:cNvPr id="5" name="Shape 3"/>
          <p:cNvSpPr/>
          <p:nvPr/>
        </p:nvSpPr>
        <p:spPr>
          <a:xfrm>
            <a:off x="4594860" y="1618488"/>
            <a:ext cx="0" cy="237744"/>
          </a:xfrm>
          <a:prstGeom prst="line">
            <a:avLst/>
          </a:prstGeom>
          <a:noFill/>
          <a:ln w="25400">
            <a:solidFill>
              <a:srgbClr val="6B8CAE"/>
            </a:solidFill>
            <a:prstDash val="solid"/>
            <a:tailEnd type="triangle"/>
          </a:ln>
        </p:spPr>
      </p:sp>
      <p:sp>
        <p:nvSpPr>
          <p:cNvPr id="6" name="Shape 4"/>
          <p:cNvSpPr/>
          <p:nvPr/>
        </p:nvSpPr>
        <p:spPr>
          <a:xfrm>
            <a:off x="3429000" y="1856232"/>
            <a:ext cx="2331720" cy="566928"/>
          </a:xfrm>
          <a:prstGeom prst="roundRect">
            <a:avLst>
              <a:gd name="adj" fmla="val 16129"/>
            </a:avLst>
          </a:prstGeom>
          <a:solidFill>
            <a:srgbClr val="0B3D91"/>
          </a:solidFill>
          <a:ln/>
        </p:spPr>
      </p:sp>
      <p:sp>
        <p:nvSpPr>
          <p:cNvPr id="7" name="Text 5"/>
          <p:cNvSpPr/>
          <p:nvPr/>
        </p:nvSpPr>
        <p:spPr>
          <a:xfrm>
            <a:off x="3429000" y="1856232"/>
            <a:ext cx="23317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Request Reaches Edge Server</a:t>
            </a:r>
            <a:endParaRPr lang="en-US" sz="1150" dirty="0"/>
          </a:p>
        </p:txBody>
      </p:sp>
      <p:sp>
        <p:nvSpPr>
          <p:cNvPr id="8" name="Shape 6"/>
          <p:cNvSpPr/>
          <p:nvPr/>
        </p:nvSpPr>
        <p:spPr>
          <a:xfrm>
            <a:off x="4594860" y="2423160"/>
            <a:ext cx="0" cy="237744"/>
          </a:xfrm>
          <a:prstGeom prst="line">
            <a:avLst/>
          </a:prstGeom>
          <a:noFill/>
          <a:ln w="25400">
            <a:solidFill>
              <a:srgbClr val="6B8CAE"/>
            </a:solidFill>
            <a:prstDash val="solid"/>
            <a:tailEnd type="triangle"/>
          </a:ln>
        </p:spPr>
      </p:sp>
      <p:sp>
        <p:nvSpPr>
          <p:cNvPr id="9" name="Shape 7"/>
          <p:cNvSpPr/>
          <p:nvPr/>
        </p:nvSpPr>
        <p:spPr>
          <a:xfrm>
            <a:off x="3246120" y="2542032"/>
            <a:ext cx="2697480" cy="804672"/>
          </a:xfrm>
          <a:prstGeom prst="diamond">
            <a:avLst/>
          </a:prstGeom>
          <a:solidFill>
            <a:srgbClr val="2E86C1"/>
          </a:solidFill>
          <a:ln/>
        </p:spPr>
      </p:sp>
      <p:sp>
        <p:nvSpPr>
          <p:cNvPr id="10" name="Text 8"/>
          <p:cNvSpPr/>
          <p:nvPr/>
        </p:nvSpPr>
        <p:spPr>
          <a:xfrm>
            <a:off x="3246120" y="2542032"/>
            <a:ext cx="2697480" cy="80467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Owns Requested Image?</a:t>
            </a:r>
            <a:endParaRPr lang="en-US" sz="1050" dirty="0"/>
          </a:p>
        </p:txBody>
      </p:sp>
      <p:sp>
        <p:nvSpPr>
          <p:cNvPr id="11" name="Shape 9"/>
          <p:cNvSpPr/>
          <p:nvPr/>
        </p:nvSpPr>
        <p:spPr>
          <a:xfrm>
            <a:off x="3429000" y="2944368"/>
            <a:ext cx="0" cy="0"/>
          </a:xfrm>
          <a:prstGeom prst="line">
            <a:avLst/>
          </a:prstGeom>
          <a:noFill/>
          <a:ln w="25400">
            <a:solidFill>
              <a:srgbClr val="1F8A3B"/>
            </a:solidFill>
            <a:prstDash val="solid"/>
            <a:tailEnd type="triangle"/>
          </a:ln>
        </p:spPr>
      </p:sp>
      <p:sp>
        <p:nvSpPr>
          <p:cNvPr id="12" name="Shape 10"/>
          <p:cNvSpPr/>
          <p:nvPr/>
        </p:nvSpPr>
        <p:spPr>
          <a:xfrm>
            <a:off x="594360" y="2660904"/>
            <a:ext cx="1737360" cy="566928"/>
          </a:xfrm>
          <a:prstGeom prst="roundRect">
            <a:avLst>
              <a:gd name="adj" fmla="val 16129"/>
            </a:avLst>
          </a:prstGeom>
          <a:solidFill>
            <a:srgbClr val="1F8A3B"/>
          </a:solidFill>
          <a:ln/>
        </p:spPr>
      </p:sp>
      <p:sp>
        <p:nvSpPr>
          <p:cNvPr id="13" name="Text 11"/>
          <p:cNvSpPr/>
          <p:nvPr/>
        </p:nvSpPr>
        <p:spPr>
          <a:xfrm>
            <a:off x="594360" y="2660904"/>
            <a:ext cx="1737360" cy="56692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Serve Image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Directly</a:t>
            </a:r>
            <a:endParaRPr lang="en-US" sz="1050" dirty="0"/>
          </a:p>
        </p:txBody>
      </p:sp>
      <p:sp>
        <p:nvSpPr>
          <p:cNvPr id="14" name="Text 12"/>
          <p:cNvSpPr/>
          <p:nvPr/>
        </p:nvSpPr>
        <p:spPr>
          <a:xfrm>
            <a:off x="2377440" y="2807208"/>
            <a:ext cx="594360" cy="256032"/>
          </a:xfrm>
          <a:prstGeom prst="rect">
            <a:avLst/>
          </a:prstGeom>
          <a:solidFill>
            <a:srgbClr val="F4F8FC"/>
          </a:solidFill>
          <a:ln/>
        </p:spPr>
        <p:txBody>
          <a:bodyPr wrap="square" rtlCol="0" anchor="ctr"/>
          <a:lstStyle/>
          <a:p>
            <a:pPr marL="0" indent="0">
              <a:buNone/>
            </a:pPr>
            <a:r>
              <a:rPr lang="en-US" sz="1000" b="1" dirty="0">
                <a:solidFill>
                  <a:srgbClr val="1F8A3B"/>
                </a:solidFill>
                <a:latin typeface="Calibri" pitchFamily="34" charset="0"/>
                <a:ea typeface="Calibri" pitchFamily="34" charset="-122"/>
                <a:cs typeface="Calibri" pitchFamily="34" charset="-120"/>
              </a:rPr>
              <a:t>YES</a:t>
            </a:r>
            <a:endParaRPr lang="en-US" sz="1000" dirty="0"/>
          </a:p>
        </p:txBody>
      </p:sp>
      <p:sp>
        <p:nvSpPr>
          <p:cNvPr id="15" name="Shape 13"/>
          <p:cNvSpPr/>
          <p:nvPr/>
        </p:nvSpPr>
        <p:spPr>
          <a:xfrm>
            <a:off x="4594860" y="3346704"/>
            <a:ext cx="0" cy="118872"/>
          </a:xfrm>
          <a:prstGeom prst="line">
            <a:avLst/>
          </a:prstGeom>
          <a:noFill/>
          <a:ln w="25400">
            <a:solidFill>
              <a:srgbClr val="C0392B"/>
            </a:solidFill>
            <a:prstDash val="solid"/>
            <a:tailEnd type="triangle"/>
          </a:ln>
        </p:spPr>
      </p:sp>
      <p:sp>
        <p:nvSpPr>
          <p:cNvPr id="16" name="Shape 14"/>
          <p:cNvSpPr/>
          <p:nvPr/>
        </p:nvSpPr>
        <p:spPr>
          <a:xfrm>
            <a:off x="3429000" y="3465576"/>
            <a:ext cx="2331720" cy="566928"/>
          </a:xfrm>
          <a:prstGeom prst="roundRect">
            <a:avLst>
              <a:gd name="adj" fmla="val 16129"/>
            </a:avLst>
          </a:prstGeom>
          <a:solidFill>
            <a:srgbClr val="0B3D91"/>
          </a:solidFill>
          <a:ln/>
        </p:spPr>
      </p:sp>
      <p:sp>
        <p:nvSpPr>
          <p:cNvPr id="17" name="Text 15"/>
          <p:cNvSpPr/>
          <p:nvPr/>
        </p:nvSpPr>
        <p:spPr>
          <a:xfrm>
            <a:off x="3429000" y="3465576"/>
            <a:ext cx="23317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Forward to Correct Edge Server</a:t>
            </a:r>
            <a:endParaRPr lang="en-US" sz="1150" dirty="0"/>
          </a:p>
        </p:txBody>
      </p:sp>
      <p:sp>
        <p:nvSpPr>
          <p:cNvPr id="18" name="Text 16"/>
          <p:cNvSpPr/>
          <p:nvPr/>
        </p:nvSpPr>
        <p:spPr>
          <a:xfrm>
            <a:off x="4732020" y="3319272"/>
            <a:ext cx="457200" cy="219456"/>
          </a:xfrm>
          <a:prstGeom prst="rect">
            <a:avLst/>
          </a:prstGeom>
          <a:solidFill>
            <a:srgbClr val="F4F8FC"/>
          </a:solidFill>
          <a:ln/>
        </p:spPr>
        <p:txBody>
          <a:bodyPr wrap="square"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NO</a:t>
            </a:r>
            <a:endParaRPr lang="en-US" sz="1000" dirty="0"/>
          </a:p>
        </p:txBody>
      </p:sp>
      <p:sp>
        <p:nvSpPr>
          <p:cNvPr id="19" name="Shape 17"/>
          <p:cNvSpPr/>
          <p:nvPr/>
        </p:nvSpPr>
        <p:spPr>
          <a:xfrm>
            <a:off x="4594860" y="4032504"/>
            <a:ext cx="0" cy="237744"/>
          </a:xfrm>
          <a:prstGeom prst="line">
            <a:avLst/>
          </a:prstGeom>
          <a:noFill/>
          <a:ln w="25400">
            <a:solidFill>
              <a:srgbClr val="6B8CAE"/>
            </a:solidFill>
            <a:prstDash val="solid"/>
            <a:tailEnd type="triangle"/>
          </a:ln>
        </p:spPr>
      </p:sp>
      <p:sp>
        <p:nvSpPr>
          <p:cNvPr id="20" name="Shape 18"/>
          <p:cNvSpPr/>
          <p:nvPr/>
        </p:nvSpPr>
        <p:spPr>
          <a:xfrm>
            <a:off x="3246120" y="4151376"/>
            <a:ext cx="2697480" cy="804672"/>
          </a:xfrm>
          <a:prstGeom prst="diamond">
            <a:avLst/>
          </a:prstGeom>
          <a:solidFill>
            <a:srgbClr val="2E86C1"/>
          </a:solidFill>
          <a:ln/>
        </p:spPr>
      </p:sp>
      <p:sp>
        <p:nvSpPr>
          <p:cNvPr id="21" name="Text 19"/>
          <p:cNvSpPr/>
          <p:nvPr/>
        </p:nvSpPr>
        <p:spPr>
          <a:xfrm>
            <a:off x="3246120" y="4151376"/>
            <a:ext cx="2697480" cy="80467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Cache Hit?</a:t>
            </a:r>
            <a:endParaRPr lang="en-US" sz="1050" dirty="0"/>
          </a:p>
        </p:txBody>
      </p:sp>
      <p:sp>
        <p:nvSpPr>
          <p:cNvPr id="22" name="Shape 20"/>
          <p:cNvSpPr/>
          <p:nvPr/>
        </p:nvSpPr>
        <p:spPr>
          <a:xfrm>
            <a:off x="3429000" y="4553712"/>
            <a:ext cx="0" cy="0"/>
          </a:xfrm>
          <a:prstGeom prst="line">
            <a:avLst/>
          </a:prstGeom>
          <a:noFill/>
          <a:ln w="25400">
            <a:solidFill>
              <a:srgbClr val="1F8A3B"/>
            </a:solidFill>
            <a:prstDash val="solid"/>
            <a:tailEnd type="triangle"/>
          </a:ln>
        </p:spPr>
      </p:sp>
      <p:sp>
        <p:nvSpPr>
          <p:cNvPr id="23" name="Shape 21"/>
          <p:cNvSpPr/>
          <p:nvPr/>
        </p:nvSpPr>
        <p:spPr>
          <a:xfrm>
            <a:off x="594360" y="4270248"/>
            <a:ext cx="1737360" cy="566928"/>
          </a:xfrm>
          <a:prstGeom prst="roundRect">
            <a:avLst>
              <a:gd name="adj" fmla="val 16129"/>
            </a:avLst>
          </a:prstGeom>
          <a:solidFill>
            <a:srgbClr val="1F8A3B"/>
          </a:solidFill>
          <a:ln/>
        </p:spPr>
      </p:sp>
      <p:sp>
        <p:nvSpPr>
          <p:cNvPr id="24" name="Text 22"/>
          <p:cNvSpPr/>
          <p:nvPr/>
        </p:nvSpPr>
        <p:spPr>
          <a:xfrm>
            <a:off x="594360" y="4270248"/>
            <a:ext cx="1737360" cy="56692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Return Cached</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Image</a:t>
            </a:r>
            <a:endParaRPr lang="en-US" sz="1050" dirty="0"/>
          </a:p>
        </p:txBody>
      </p:sp>
      <p:sp>
        <p:nvSpPr>
          <p:cNvPr id="25" name="Text 23"/>
          <p:cNvSpPr/>
          <p:nvPr/>
        </p:nvSpPr>
        <p:spPr>
          <a:xfrm>
            <a:off x="2377440" y="4416552"/>
            <a:ext cx="594360" cy="256032"/>
          </a:xfrm>
          <a:prstGeom prst="rect">
            <a:avLst/>
          </a:prstGeom>
          <a:solidFill>
            <a:srgbClr val="F4F8FC"/>
          </a:solidFill>
          <a:ln/>
        </p:spPr>
        <p:txBody>
          <a:bodyPr wrap="square" rtlCol="0" anchor="ctr"/>
          <a:lstStyle/>
          <a:p>
            <a:pPr marL="0" indent="0">
              <a:buNone/>
            </a:pPr>
            <a:r>
              <a:rPr lang="en-US" sz="1000" b="1" dirty="0">
                <a:solidFill>
                  <a:srgbClr val="1F8A3B"/>
                </a:solidFill>
                <a:latin typeface="Calibri" pitchFamily="34" charset="0"/>
                <a:ea typeface="Calibri" pitchFamily="34" charset="-122"/>
                <a:cs typeface="Calibri" pitchFamily="34" charset="-120"/>
              </a:rPr>
              <a:t>YES</a:t>
            </a:r>
            <a:endParaRPr lang="en-US" sz="1000" dirty="0"/>
          </a:p>
        </p:txBody>
      </p:sp>
      <p:sp>
        <p:nvSpPr>
          <p:cNvPr id="26" name="Shape 24"/>
          <p:cNvSpPr/>
          <p:nvPr/>
        </p:nvSpPr>
        <p:spPr>
          <a:xfrm>
            <a:off x="4594860" y="4956048"/>
            <a:ext cx="0" cy="118872"/>
          </a:xfrm>
          <a:prstGeom prst="line">
            <a:avLst/>
          </a:prstGeom>
          <a:noFill/>
          <a:ln w="25400">
            <a:solidFill>
              <a:srgbClr val="C0392B"/>
            </a:solidFill>
            <a:prstDash val="solid"/>
            <a:tailEnd type="triangle"/>
          </a:ln>
        </p:spPr>
      </p:sp>
      <p:sp>
        <p:nvSpPr>
          <p:cNvPr id="27" name="Shape 25"/>
          <p:cNvSpPr/>
          <p:nvPr/>
        </p:nvSpPr>
        <p:spPr>
          <a:xfrm>
            <a:off x="3429000" y="5074920"/>
            <a:ext cx="2331720" cy="566928"/>
          </a:xfrm>
          <a:prstGeom prst="roundRect">
            <a:avLst>
              <a:gd name="adj" fmla="val 16129"/>
            </a:avLst>
          </a:prstGeom>
          <a:solidFill>
            <a:srgbClr val="0B3D91"/>
          </a:solidFill>
          <a:ln/>
        </p:spPr>
      </p:sp>
      <p:sp>
        <p:nvSpPr>
          <p:cNvPr id="28" name="Text 26"/>
          <p:cNvSpPr/>
          <p:nvPr/>
        </p:nvSpPr>
        <p:spPr>
          <a:xfrm>
            <a:off x="3429000" y="5074920"/>
            <a:ext cx="23317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Request Global Server, Download &amp; Cache Image</a:t>
            </a:r>
            <a:endParaRPr lang="en-US" sz="1150" dirty="0"/>
          </a:p>
        </p:txBody>
      </p:sp>
      <p:sp>
        <p:nvSpPr>
          <p:cNvPr id="29" name="Text 27"/>
          <p:cNvSpPr/>
          <p:nvPr/>
        </p:nvSpPr>
        <p:spPr>
          <a:xfrm>
            <a:off x="4732020" y="4928616"/>
            <a:ext cx="457200" cy="219456"/>
          </a:xfrm>
          <a:prstGeom prst="rect">
            <a:avLst/>
          </a:prstGeom>
          <a:solidFill>
            <a:srgbClr val="F4F8FC"/>
          </a:solidFill>
          <a:ln/>
        </p:spPr>
        <p:txBody>
          <a:bodyPr wrap="square"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NO</a:t>
            </a:r>
            <a:endParaRPr lang="en-US" sz="1000" dirty="0"/>
          </a:p>
        </p:txBody>
      </p:sp>
      <p:sp>
        <p:nvSpPr>
          <p:cNvPr id="30" name="Shape 28"/>
          <p:cNvSpPr/>
          <p:nvPr/>
        </p:nvSpPr>
        <p:spPr>
          <a:xfrm>
            <a:off x="4594860" y="5641848"/>
            <a:ext cx="0" cy="210312"/>
          </a:xfrm>
          <a:prstGeom prst="line">
            <a:avLst/>
          </a:prstGeom>
          <a:noFill/>
          <a:ln w="25400">
            <a:solidFill>
              <a:srgbClr val="6B8CAE"/>
            </a:solidFill>
            <a:prstDash val="solid"/>
            <a:tailEnd type="triangle"/>
          </a:ln>
        </p:spPr>
      </p:sp>
      <p:sp>
        <p:nvSpPr>
          <p:cNvPr id="31" name="Shape 29"/>
          <p:cNvSpPr/>
          <p:nvPr/>
        </p:nvSpPr>
        <p:spPr>
          <a:xfrm>
            <a:off x="3429000" y="5852160"/>
            <a:ext cx="2331720" cy="566928"/>
          </a:xfrm>
          <a:prstGeom prst="roundRect">
            <a:avLst>
              <a:gd name="adj" fmla="val 16129"/>
            </a:avLst>
          </a:prstGeom>
          <a:solidFill>
            <a:srgbClr val="00B4D8"/>
          </a:solidFill>
          <a:ln/>
        </p:spPr>
      </p:sp>
      <p:sp>
        <p:nvSpPr>
          <p:cNvPr id="32" name="Text 30"/>
          <p:cNvSpPr/>
          <p:nvPr/>
        </p:nvSpPr>
        <p:spPr>
          <a:xfrm>
            <a:off x="3429000" y="5852160"/>
            <a:ext cx="2331720" cy="566928"/>
          </a:xfrm>
          <a:prstGeom prst="rect">
            <a:avLst/>
          </a:prstGeom>
          <a:noFill/>
          <a:ln/>
        </p:spPr>
        <p:txBody>
          <a:bodyPr wrap="square" rtlCol="0" anchor="ctr"/>
          <a:lstStyle/>
          <a:p>
            <a:pPr marL="0" indent="0" algn="ctr">
              <a:buNone/>
            </a:pPr>
            <a:r>
              <a:rPr lang="en-US" sz="1100" b="1" dirty="0">
                <a:solidFill>
                  <a:srgbClr val="0B3D91"/>
                </a:solidFill>
                <a:latin typeface="Calibri" pitchFamily="34" charset="0"/>
                <a:ea typeface="Calibri" pitchFamily="34" charset="-122"/>
                <a:cs typeface="Calibri" pitchFamily="34" charset="-120"/>
              </a:rPr>
              <a:t>Return Image to Client</a:t>
            </a:r>
            <a:endParaRPr lang="en-US" sz="1100" dirty="0"/>
          </a:p>
        </p:txBody>
      </p:sp>
      <p:sp>
        <p:nvSpPr>
          <p:cNvPr id="33" name="Shape 31"/>
          <p:cNvSpPr/>
          <p:nvPr/>
        </p:nvSpPr>
        <p:spPr>
          <a:xfrm>
            <a:off x="6492240" y="1143000"/>
            <a:ext cx="5166360" cy="5074920"/>
          </a:xfrm>
          <a:prstGeom prst="roundRect">
            <a:avLst>
              <a:gd name="adj" fmla="val 2162"/>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34" name="Shape 32"/>
          <p:cNvSpPr/>
          <p:nvPr/>
        </p:nvSpPr>
        <p:spPr>
          <a:xfrm>
            <a:off x="6766560" y="1371600"/>
            <a:ext cx="502920" cy="502920"/>
          </a:xfrm>
          <a:prstGeom prst="ellipse">
            <a:avLst/>
          </a:prstGeom>
          <a:solidFill>
            <a:srgbClr val="1F8A3B"/>
          </a:solidFill>
          <a:ln/>
        </p:spPr>
      </p:sp>
      <p:pic>
        <p:nvPicPr>
          <p:cNvPr id="35" name="Image 0" descr="/home/claude/pptx_build/icons/sync_FFFFFF.png"/>
          <p:cNvPicPr>
            <a:picLocks noChangeAspect="1"/>
          </p:cNvPicPr>
          <p:nvPr/>
        </p:nvPicPr>
        <p:blipFill>
          <a:blip r:embed="rId3"/>
          <a:stretch>
            <a:fillRect/>
          </a:stretch>
        </p:blipFill>
        <p:spPr>
          <a:xfrm>
            <a:off x="6826910" y="1431950"/>
            <a:ext cx="382219" cy="382219"/>
          </a:xfrm>
          <a:prstGeom prst="rect">
            <a:avLst/>
          </a:prstGeom>
        </p:spPr>
      </p:pic>
      <p:sp>
        <p:nvSpPr>
          <p:cNvPr id="36" name="Text 33"/>
          <p:cNvSpPr/>
          <p:nvPr/>
        </p:nvSpPr>
        <p:spPr>
          <a:xfrm>
            <a:off x="7406640" y="1371600"/>
            <a:ext cx="4023360" cy="365760"/>
          </a:xfrm>
          <a:prstGeom prst="rect">
            <a:avLst/>
          </a:prstGeom>
          <a:noFill/>
          <a:ln/>
        </p:spPr>
        <p:txBody>
          <a:bodyPr wrap="square" rtlCol="0" anchor="ctr"/>
          <a:lstStyle/>
          <a:p>
            <a:pPr marL="0" indent="0">
              <a:buNone/>
            </a:pPr>
            <a:r>
              <a:rPr lang="en-US" sz="1500" b="1" dirty="0">
                <a:solidFill>
                  <a:srgbClr val="1F8A3B"/>
                </a:solidFill>
                <a:latin typeface="Calibri" pitchFamily="34" charset="0"/>
                <a:ea typeface="Calibri" pitchFamily="34" charset="-122"/>
                <a:cs typeface="Calibri" pitchFamily="34" charset="-120"/>
              </a:rPr>
              <a:t>Cache Hit</a:t>
            </a:r>
            <a:endParaRPr lang="en-US" sz="1500" dirty="0"/>
          </a:p>
        </p:txBody>
      </p:sp>
      <p:sp>
        <p:nvSpPr>
          <p:cNvPr id="37" name="Text 34"/>
          <p:cNvSpPr/>
          <p:nvPr/>
        </p:nvSpPr>
        <p:spPr>
          <a:xfrm>
            <a:off x="6766560" y="1874520"/>
            <a:ext cx="4617720" cy="1188720"/>
          </a:xfrm>
          <a:prstGeom prst="rect">
            <a:avLst/>
          </a:prstGeom>
          <a:noFill/>
          <a:ln/>
        </p:spPr>
        <p:txBody>
          <a:bodyPr wrap="square" rtlCol="0" anchor="ctr"/>
          <a:lstStyle/>
          <a:p>
            <a:pPr marL="0" indent="0">
              <a:buNone/>
            </a:pPr>
            <a:r>
              <a:rPr lang="en-US" sz="1200" dirty="0">
                <a:solidFill>
                  <a:srgbClr val="16324F"/>
                </a:solidFill>
                <a:latin typeface="Calibri" pitchFamily="34" charset="0"/>
                <a:ea typeface="Calibri" pitchFamily="34" charset="-122"/>
                <a:cs typeface="Calibri" pitchFamily="34" charset="-120"/>
              </a:rPr>
              <a:t>The requested image already exists in the edge server's local cache. It is returned immediately to the client without contacting the Global Server — resulting in a fast response.</a:t>
            </a:r>
            <a:endParaRPr lang="en-US" sz="1200" dirty="0"/>
          </a:p>
        </p:txBody>
      </p:sp>
      <p:sp>
        <p:nvSpPr>
          <p:cNvPr id="38" name="Shape 35"/>
          <p:cNvSpPr/>
          <p:nvPr/>
        </p:nvSpPr>
        <p:spPr>
          <a:xfrm>
            <a:off x="6766560" y="3246120"/>
            <a:ext cx="502920" cy="502920"/>
          </a:xfrm>
          <a:prstGeom prst="ellipse">
            <a:avLst/>
          </a:prstGeom>
          <a:solidFill>
            <a:srgbClr val="C0392B"/>
          </a:solidFill>
          <a:ln/>
        </p:spPr>
      </p:sp>
      <p:pic>
        <p:nvPicPr>
          <p:cNvPr id="39" name="Image 1" descr="/home/claude/pptx_build/icons/xcircle_FFFFFF.png"/>
          <p:cNvPicPr>
            <a:picLocks noChangeAspect="1"/>
          </p:cNvPicPr>
          <p:nvPr/>
        </p:nvPicPr>
        <p:blipFill>
          <a:blip r:embed="rId4"/>
          <a:stretch>
            <a:fillRect/>
          </a:stretch>
        </p:blipFill>
        <p:spPr>
          <a:xfrm>
            <a:off x="6826910" y="3306470"/>
            <a:ext cx="382219" cy="382219"/>
          </a:xfrm>
          <a:prstGeom prst="rect">
            <a:avLst/>
          </a:prstGeom>
        </p:spPr>
      </p:pic>
      <p:sp>
        <p:nvSpPr>
          <p:cNvPr id="40" name="Text 36"/>
          <p:cNvSpPr/>
          <p:nvPr/>
        </p:nvSpPr>
        <p:spPr>
          <a:xfrm>
            <a:off x="7406640" y="3246120"/>
            <a:ext cx="4023360" cy="365760"/>
          </a:xfrm>
          <a:prstGeom prst="rect">
            <a:avLst/>
          </a:prstGeom>
          <a:noFill/>
          <a:ln/>
        </p:spPr>
        <p:txBody>
          <a:bodyPr wrap="square" rtlCol="0" anchor="ctr"/>
          <a:lstStyle/>
          <a:p>
            <a:pPr marL="0" indent="0">
              <a:buNone/>
            </a:pPr>
            <a:r>
              <a:rPr lang="en-US" sz="1500" b="1" dirty="0">
                <a:solidFill>
                  <a:srgbClr val="C0392B"/>
                </a:solidFill>
                <a:latin typeface="Calibri" pitchFamily="34" charset="0"/>
                <a:ea typeface="Calibri" pitchFamily="34" charset="-122"/>
                <a:cs typeface="Calibri" pitchFamily="34" charset="-120"/>
              </a:rPr>
              <a:t>Cache Miss</a:t>
            </a:r>
            <a:endParaRPr lang="en-US" sz="1500" dirty="0"/>
          </a:p>
        </p:txBody>
      </p:sp>
      <p:sp>
        <p:nvSpPr>
          <p:cNvPr id="41" name="Text 37"/>
          <p:cNvSpPr/>
          <p:nvPr/>
        </p:nvSpPr>
        <p:spPr>
          <a:xfrm>
            <a:off x="6766560" y="3749040"/>
            <a:ext cx="4617720" cy="1371600"/>
          </a:xfrm>
          <a:prstGeom prst="rect">
            <a:avLst/>
          </a:prstGeom>
          <a:noFill/>
          <a:ln/>
        </p:spPr>
        <p:txBody>
          <a:bodyPr wrap="square" rtlCol="0" anchor="ctr"/>
          <a:lstStyle/>
          <a:p>
            <a:pPr marL="0" indent="0">
              <a:buNone/>
            </a:pPr>
            <a:r>
              <a:rPr lang="en-US" sz="1200" dirty="0">
                <a:solidFill>
                  <a:srgbClr val="16324F"/>
                </a:solidFill>
                <a:latin typeface="Calibri" pitchFamily="34" charset="0"/>
                <a:ea typeface="Calibri" pitchFamily="34" charset="-122"/>
                <a:cs typeface="Calibri" pitchFamily="34" charset="-120"/>
              </a:rPr>
              <a:t>The image is not present locally. The edge server requests it from the Global Server over HTTP, stores a copy in its cache for future requests, and then returns it to the client.</a:t>
            </a:r>
            <a:endParaRPr lang="en-US" sz="1200" dirty="0"/>
          </a:p>
        </p:txBody>
      </p:sp>
      <p:sp>
        <p:nvSpPr>
          <p:cNvPr id="42" name="Shape 38"/>
          <p:cNvSpPr/>
          <p:nvPr/>
        </p:nvSpPr>
        <p:spPr>
          <a:xfrm>
            <a:off x="6766560" y="5257800"/>
            <a:ext cx="4617720" cy="777240"/>
          </a:xfrm>
          <a:prstGeom prst="roundRect">
            <a:avLst>
              <a:gd name="adj" fmla="val 11765"/>
            </a:avLst>
          </a:prstGeom>
          <a:solidFill>
            <a:srgbClr val="F4F8FC"/>
          </a:solidFill>
          <a:ln/>
        </p:spPr>
      </p:sp>
      <p:sp>
        <p:nvSpPr>
          <p:cNvPr id="43" name="Text 39"/>
          <p:cNvSpPr/>
          <p:nvPr/>
        </p:nvSpPr>
        <p:spPr>
          <a:xfrm>
            <a:off x="6903720" y="5257800"/>
            <a:ext cx="4389120" cy="777240"/>
          </a:xfrm>
          <a:prstGeom prst="rect">
            <a:avLst/>
          </a:prstGeom>
          <a:noFill/>
          <a:ln/>
        </p:spPr>
        <p:txBody>
          <a:bodyPr wrap="square" rtlCol="0" anchor="ctr"/>
          <a:lstStyle/>
          <a:p>
            <a:pPr marL="0" indent="0">
              <a:buNone/>
            </a:pPr>
            <a:r>
              <a:rPr lang="en-US" sz="1100" i="1" dirty="0">
                <a:solidFill>
                  <a:srgbClr val="0B3D91"/>
                </a:solidFill>
                <a:latin typeface="Calibri" pitchFamily="34" charset="0"/>
                <a:ea typeface="Calibri" pitchFamily="34" charset="-122"/>
                <a:cs typeface="Calibri" pitchFamily="34" charset="-120"/>
              </a:rPr>
              <a:t>Subsequent requests for the same image become cache hits — reducing latency over time.</a:t>
            </a:r>
            <a:endParaRPr lang="en-US" sz="1100" dirty="0"/>
          </a:p>
        </p:txBody>
      </p:sp>
      <p:sp>
        <p:nvSpPr>
          <p:cNvPr id="45" name="Text 41"/>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6B8CA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b="1" dirty="0">
                <a:solidFill>
                  <a:srgbClr val="0B3D91"/>
                </a:solidFill>
                <a:latin typeface="Cambria" pitchFamily="34" charset="0"/>
                <a:ea typeface="Cambria" pitchFamily="34" charset="-122"/>
                <a:cs typeface="Cambria" pitchFamily="34" charset="-120"/>
              </a:rPr>
              <a:t>Edge Server Implementation</a:t>
            </a:r>
            <a:endParaRPr lang="en-US" sz="3000" dirty="0"/>
          </a:p>
        </p:txBody>
      </p:sp>
      <p:sp>
        <p:nvSpPr>
          <p:cNvPr id="3" name="Shape 1"/>
          <p:cNvSpPr/>
          <p:nvPr/>
        </p:nvSpPr>
        <p:spPr>
          <a:xfrm>
            <a:off x="548640" y="1188720"/>
            <a:ext cx="3520440" cy="1691640"/>
          </a:xfrm>
          <a:prstGeom prst="roundRect">
            <a:avLst>
              <a:gd name="adj" fmla="val 6486"/>
            </a:avLst>
          </a:prstGeom>
          <a:solidFill>
            <a:srgbClr val="0B3D91"/>
          </a:solidFill>
          <a:ln/>
          <a:effectLst>
            <a:outerShdw blurRad="63500" dist="25400" dir="5400000" algn="bl" rotWithShape="0">
              <a:srgbClr val="9AB4CC">
                <a:alpha val="30000"/>
              </a:srgbClr>
            </a:outerShdw>
          </a:effectLst>
        </p:spPr>
      </p:sp>
      <p:sp>
        <p:nvSpPr>
          <p:cNvPr id="4" name="Shape 2"/>
          <p:cNvSpPr/>
          <p:nvPr/>
        </p:nvSpPr>
        <p:spPr>
          <a:xfrm>
            <a:off x="777240" y="1417320"/>
            <a:ext cx="594360" cy="594360"/>
          </a:xfrm>
          <a:prstGeom prst="ellipse">
            <a:avLst/>
          </a:prstGeom>
          <a:solidFill>
            <a:srgbClr val="00B4D8"/>
          </a:solidFill>
          <a:ln/>
        </p:spPr>
      </p:sp>
      <p:pic>
        <p:nvPicPr>
          <p:cNvPr id="5" name="Image 0" descr="/home/claude/pptx_build/icons/server_0B3D91.png"/>
          <p:cNvPicPr>
            <a:picLocks noChangeAspect="1"/>
          </p:cNvPicPr>
          <p:nvPr/>
        </p:nvPicPr>
        <p:blipFill>
          <a:blip r:embed="rId3"/>
          <a:stretch>
            <a:fillRect/>
          </a:stretch>
        </p:blipFill>
        <p:spPr>
          <a:xfrm>
            <a:off x="848563" y="1488643"/>
            <a:ext cx="451714" cy="451714"/>
          </a:xfrm>
          <a:prstGeom prst="rect">
            <a:avLst/>
          </a:prstGeom>
        </p:spPr>
      </p:pic>
      <p:sp>
        <p:nvSpPr>
          <p:cNvPr id="6" name="Text 3"/>
          <p:cNvSpPr/>
          <p:nvPr/>
        </p:nvSpPr>
        <p:spPr>
          <a:xfrm>
            <a:off x="1554480" y="1417320"/>
            <a:ext cx="2377440" cy="36576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Edge 1</a:t>
            </a:r>
            <a:endParaRPr lang="en-US" sz="1700" dirty="0"/>
          </a:p>
        </p:txBody>
      </p:sp>
      <p:sp>
        <p:nvSpPr>
          <p:cNvPr id="7" name="Text 4"/>
          <p:cNvSpPr/>
          <p:nvPr/>
        </p:nvSpPr>
        <p:spPr>
          <a:xfrm>
            <a:off x="1554480" y="1810512"/>
            <a:ext cx="2377440" cy="292608"/>
          </a:xfrm>
          <a:prstGeom prst="rect">
            <a:avLst/>
          </a:prstGeom>
          <a:noFill/>
          <a:ln/>
        </p:spPr>
        <p:txBody>
          <a:bodyPr wrap="square" rtlCol="0" anchor="ctr"/>
          <a:lstStyle/>
          <a:p>
            <a:pPr marL="0" indent="0">
              <a:buNone/>
            </a:pPr>
            <a:r>
              <a:rPr lang="en-US" sz="1200" dirty="0">
                <a:solidFill>
                  <a:srgbClr val="5DADE2"/>
                </a:solidFill>
                <a:latin typeface="Calibri" pitchFamily="34" charset="0"/>
                <a:ea typeface="Calibri" pitchFamily="34" charset="-122"/>
                <a:cs typeface="Calibri" pitchFamily="34" charset="-120"/>
              </a:rPr>
              <a:t>Port 8001</a:t>
            </a:r>
            <a:endParaRPr lang="en-US" sz="1200" dirty="0"/>
          </a:p>
        </p:txBody>
      </p:sp>
      <p:sp>
        <p:nvSpPr>
          <p:cNvPr id="8" name="Shape 5"/>
          <p:cNvSpPr/>
          <p:nvPr/>
        </p:nvSpPr>
        <p:spPr>
          <a:xfrm>
            <a:off x="822960" y="2331720"/>
            <a:ext cx="2971800" cy="411480"/>
          </a:xfrm>
          <a:prstGeom prst="roundRect">
            <a:avLst>
              <a:gd name="adj" fmla="val 48889"/>
            </a:avLst>
          </a:prstGeom>
          <a:solidFill>
            <a:srgbClr val="00B4D8"/>
          </a:solidFill>
          <a:ln/>
        </p:spPr>
      </p:sp>
      <p:sp>
        <p:nvSpPr>
          <p:cNvPr id="9" name="Text 6"/>
          <p:cNvSpPr/>
          <p:nvPr/>
        </p:nvSpPr>
        <p:spPr>
          <a:xfrm>
            <a:off x="822960" y="2331720"/>
            <a:ext cx="2971800" cy="411480"/>
          </a:xfrm>
          <a:prstGeom prst="rect">
            <a:avLst/>
          </a:prstGeom>
          <a:noFill/>
          <a:ln/>
        </p:spPr>
        <p:txBody>
          <a:bodyPr wrap="square" rtlCol="0" anchor="ctr"/>
          <a:lstStyle/>
          <a:p>
            <a:pPr marL="0" indent="0" algn="ctr">
              <a:buNone/>
            </a:pPr>
            <a:r>
              <a:rPr lang="en-US" sz="1250" b="1" dirty="0">
                <a:solidFill>
                  <a:srgbClr val="0B3D91"/>
                </a:solidFill>
                <a:latin typeface="Calibri" pitchFamily="34" charset="0"/>
                <a:ea typeface="Calibri" pitchFamily="34" charset="-122"/>
                <a:cs typeface="Calibri" pitchFamily="34" charset="-120"/>
              </a:rPr>
              <a:t>Images 1–7</a:t>
            </a:r>
            <a:endParaRPr lang="en-US" sz="1250" dirty="0"/>
          </a:p>
        </p:txBody>
      </p:sp>
      <p:sp>
        <p:nvSpPr>
          <p:cNvPr id="10" name="Shape 7"/>
          <p:cNvSpPr/>
          <p:nvPr/>
        </p:nvSpPr>
        <p:spPr>
          <a:xfrm>
            <a:off x="4343400" y="1188720"/>
            <a:ext cx="3520440" cy="1691640"/>
          </a:xfrm>
          <a:prstGeom prst="roundRect">
            <a:avLst>
              <a:gd name="adj" fmla="val 6486"/>
            </a:avLst>
          </a:prstGeom>
          <a:solidFill>
            <a:srgbClr val="0B3D91"/>
          </a:solidFill>
          <a:ln/>
          <a:effectLst>
            <a:outerShdw blurRad="63500" dist="25400" dir="5400000" algn="bl" rotWithShape="0">
              <a:srgbClr val="9AB4CC">
                <a:alpha val="30000"/>
              </a:srgbClr>
            </a:outerShdw>
          </a:effectLst>
        </p:spPr>
      </p:sp>
      <p:sp>
        <p:nvSpPr>
          <p:cNvPr id="11" name="Shape 8"/>
          <p:cNvSpPr/>
          <p:nvPr/>
        </p:nvSpPr>
        <p:spPr>
          <a:xfrm>
            <a:off x="4572000" y="1417320"/>
            <a:ext cx="594360" cy="594360"/>
          </a:xfrm>
          <a:prstGeom prst="ellipse">
            <a:avLst/>
          </a:prstGeom>
          <a:solidFill>
            <a:srgbClr val="00B4D8"/>
          </a:solidFill>
          <a:ln/>
        </p:spPr>
      </p:sp>
      <p:pic>
        <p:nvPicPr>
          <p:cNvPr id="12" name="Image 1" descr="/home/claude/pptx_build/icons/server_0B3D91.png"/>
          <p:cNvPicPr>
            <a:picLocks noChangeAspect="1"/>
          </p:cNvPicPr>
          <p:nvPr/>
        </p:nvPicPr>
        <p:blipFill>
          <a:blip r:embed="rId3"/>
          <a:stretch>
            <a:fillRect/>
          </a:stretch>
        </p:blipFill>
        <p:spPr>
          <a:xfrm>
            <a:off x="4643323" y="1488643"/>
            <a:ext cx="451714" cy="451714"/>
          </a:xfrm>
          <a:prstGeom prst="rect">
            <a:avLst/>
          </a:prstGeom>
        </p:spPr>
      </p:pic>
      <p:sp>
        <p:nvSpPr>
          <p:cNvPr id="13" name="Text 9"/>
          <p:cNvSpPr/>
          <p:nvPr/>
        </p:nvSpPr>
        <p:spPr>
          <a:xfrm>
            <a:off x="5349240" y="1417320"/>
            <a:ext cx="2377440" cy="36576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Edge 2</a:t>
            </a:r>
            <a:endParaRPr lang="en-US" sz="1700" dirty="0"/>
          </a:p>
        </p:txBody>
      </p:sp>
      <p:sp>
        <p:nvSpPr>
          <p:cNvPr id="14" name="Text 10"/>
          <p:cNvSpPr/>
          <p:nvPr/>
        </p:nvSpPr>
        <p:spPr>
          <a:xfrm>
            <a:off x="5349240" y="1810512"/>
            <a:ext cx="2377440" cy="292608"/>
          </a:xfrm>
          <a:prstGeom prst="rect">
            <a:avLst/>
          </a:prstGeom>
          <a:noFill/>
          <a:ln/>
        </p:spPr>
        <p:txBody>
          <a:bodyPr wrap="square" rtlCol="0" anchor="ctr"/>
          <a:lstStyle/>
          <a:p>
            <a:pPr marL="0" indent="0">
              <a:buNone/>
            </a:pPr>
            <a:r>
              <a:rPr lang="en-US" sz="1200" dirty="0">
                <a:solidFill>
                  <a:srgbClr val="5DADE2"/>
                </a:solidFill>
                <a:latin typeface="Calibri" pitchFamily="34" charset="0"/>
                <a:ea typeface="Calibri" pitchFamily="34" charset="-122"/>
                <a:cs typeface="Calibri" pitchFamily="34" charset="-120"/>
              </a:rPr>
              <a:t>Port 8002</a:t>
            </a:r>
            <a:endParaRPr lang="en-US" sz="1200" dirty="0"/>
          </a:p>
        </p:txBody>
      </p:sp>
      <p:sp>
        <p:nvSpPr>
          <p:cNvPr id="15" name="Shape 11"/>
          <p:cNvSpPr/>
          <p:nvPr/>
        </p:nvSpPr>
        <p:spPr>
          <a:xfrm>
            <a:off x="4617720" y="2331720"/>
            <a:ext cx="2971800" cy="411480"/>
          </a:xfrm>
          <a:prstGeom prst="roundRect">
            <a:avLst>
              <a:gd name="adj" fmla="val 48889"/>
            </a:avLst>
          </a:prstGeom>
          <a:solidFill>
            <a:srgbClr val="00B4D8"/>
          </a:solidFill>
          <a:ln/>
        </p:spPr>
      </p:sp>
      <p:sp>
        <p:nvSpPr>
          <p:cNvPr id="16" name="Text 12"/>
          <p:cNvSpPr/>
          <p:nvPr/>
        </p:nvSpPr>
        <p:spPr>
          <a:xfrm>
            <a:off x="4617720" y="2331720"/>
            <a:ext cx="2971800" cy="411480"/>
          </a:xfrm>
          <a:prstGeom prst="rect">
            <a:avLst/>
          </a:prstGeom>
          <a:noFill/>
          <a:ln/>
        </p:spPr>
        <p:txBody>
          <a:bodyPr wrap="square" rtlCol="0" anchor="ctr"/>
          <a:lstStyle/>
          <a:p>
            <a:pPr marL="0" indent="0" algn="ctr">
              <a:buNone/>
            </a:pPr>
            <a:r>
              <a:rPr lang="en-US" sz="1250" b="1" dirty="0">
                <a:solidFill>
                  <a:srgbClr val="0B3D91"/>
                </a:solidFill>
                <a:latin typeface="Calibri" pitchFamily="34" charset="0"/>
                <a:ea typeface="Calibri" pitchFamily="34" charset="-122"/>
                <a:cs typeface="Calibri" pitchFamily="34" charset="-120"/>
              </a:rPr>
              <a:t>Images 8–14</a:t>
            </a:r>
            <a:endParaRPr lang="en-US" sz="1250" dirty="0"/>
          </a:p>
        </p:txBody>
      </p:sp>
      <p:sp>
        <p:nvSpPr>
          <p:cNvPr id="17" name="Shape 13"/>
          <p:cNvSpPr/>
          <p:nvPr/>
        </p:nvSpPr>
        <p:spPr>
          <a:xfrm>
            <a:off x="8138160" y="1188720"/>
            <a:ext cx="3520440" cy="1691640"/>
          </a:xfrm>
          <a:prstGeom prst="roundRect">
            <a:avLst>
              <a:gd name="adj" fmla="val 6486"/>
            </a:avLst>
          </a:prstGeom>
          <a:solidFill>
            <a:srgbClr val="0B3D91"/>
          </a:solidFill>
          <a:ln/>
          <a:effectLst>
            <a:outerShdw blurRad="63500" dist="25400" dir="5400000" algn="bl" rotWithShape="0">
              <a:srgbClr val="9AB4CC">
                <a:alpha val="30000"/>
              </a:srgbClr>
            </a:outerShdw>
          </a:effectLst>
        </p:spPr>
      </p:sp>
      <p:sp>
        <p:nvSpPr>
          <p:cNvPr id="18" name="Shape 14"/>
          <p:cNvSpPr/>
          <p:nvPr/>
        </p:nvSpPr>
        <p:spPr>
          <a:xfrm>
            <a:off x="8366760" y="1417320"/>
            <a:ext cx="594360" cy="594360"/>
          </a:xfrm>
          <a:prstGeom prst="ellipse">
            <a:avLst/>
          </a:prstGeom>
          <a:solidFill>
            <a:srgbClr val="00B4D8"/>
          </a:solidFill>
          <a:ln/>
        </p:spPr>
      </p:sp>
      <p:pic>
        <p:nvPicPr>
          <p:cNvPr id="19" name="Image 2" descr="/home/claude/pptx_build/icons/server_0B3D91.png"/>
          <p:cNvPicPr>
            <a:picLocks noChangeAspect="1"/>
          </p:cNvPicPr>
          <p:nvPr/>
        </p:nvPicPr>
        <p:blipFill>
          <a:blip r:embed="rId3"/>
          <a:stretch>
            <a:fillRect/>
          </a:stretch>
        </p:blipFill>
        <p:spPr>
          <a:xfrm>
            <a:off x="8438083" y="1488643"/>
            <a:ext cx="451714" cy="451714"/>
          </a:xfrm>
          <a:prstGeom prst="rect">
            <a:avLst/>
          </a:prstGeom>
        </p:spPr>
      </p:pic>
      <p:sp>
        <p:nvSpPr>
          <p:cNvPr id="20" name="Text 15"/>
          <p:cNvSpPr/>
          <p:nvPr/>
        </p:nvSpPr>
        <p:spPr>
          <a:xfrm>
            <a:off x="9144000" y="1417320"/>
            <a:ext cx="2377440" cy="36576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Edge 3</a:t>
            </a:r>
            <a:endParaRPr lang="en-US" sz="1700" dirty="0"/>
          </a:p>
        </p:txBody>
      </p:sp>
      <p:sp>
        <p:nvSpPr>
          <p:cNvPr id="21" name="Text 16"/>
          <p:cNvSpPr/>
          <p:nvPr/>
        </p:nvSpPr>
        <p:spPr>
          <a:xfrm>
            <a:off x="9144000" y="1810512"/>
            <a:ext cx="2377440" cy="292608"/>
          </a:xfrm>
          <a:prstGeom prst="rect">
            <a:avLst/>
          </a:prstGeom>
          <a:noFill/>
          <a:ln/>
        </p:spPr>
        <p:txBody>
          <a:bodyPr wrap="square" rtlCol="0" anchor="ctr"/>
          <a:lstStyle/>
          <a:p>
            <a:pPr marL="0" indent="0">
              <a:buNone/>
            </a:pPr>
            <a:r>
              <a:rPr lang="en-US" sz="1200" dirty="0">
                <a:solidFill>
                  <a:srgbClr val="5DADE2"/>
                </a:solidFill>
                <a:latin typeface="Calibri" pitchFamily="34" charset="0"/>
                <a:ea typeface="Calibri" pitchFamily="34" charset="-122"/>
                <a:cs typeface="Calibri" pitchFamily="34" charset="-120"/>
              </a:rPr>
              <a:t>Port 8003</a:t>
            </a:r>
            <a:endParaRPr lang="en-US" sz="1200" dirty="0"/>
          </a:p>
        </p:txBody>
      </p:sp>
      <p:sp>
        <p:nvSpPr>
          <p:cNvPr id="22" name="Shape 17"/>
          <p:cNvSpPr/>
          <p:nvPr/>
        </p:nvSpPr>
        <p:spPr>
          <a:xfrm>
            <a:off x="8412480" y="2331720"/>
            <a:ext cx="2971800" cy="411480"/>
          </a:xfrm>
          <a:prstGeom prst="roundRect">
            <a:avLst>
              <a:gd name="adj" fmla="val 48889"/>
            </a:avLst>
          </a:prstGeom>
          <a:solidFill>
            <a:srgbClr val="00B4D8"/>
          </a:solidFill>
          <a:ln/>
        </p:spPr>
      </p:sp>
      <p:sp>
        <p:nvSpPr>
          <p:cNvPr id="23" name="Text 18"/>
          <p:cNvSpPr/>
          <p:nvPr/>
        </p:nvSpPr>
        <p:spPr>
          <a:xfrm>
            <a:off x="8412480" y="2331720"/>
            <a:ext cx="2971800" cy="411480"/>
          </a:xfrm>
          <a:prstGeom prst="rect">
            <a:avLst/>
          </a:prstGeom>
          <a:noFill/>
          <a:ln/>
        </p:spPr>
        <p:txBody>
          <a:bodyPr wrap="square" rtlCol="0" anchor="ctr"/>
          <a:lstStyle/>
          <a:p>
            <a:pPr marL="0" indent="0" algn="ctr">
              <a:buNone/>
            </a:pPr>
            <a:r>
              <a:rPr lang="en-US" sz="1250" b="1" dirty="0">
                <a:solidFill>
                  <a:srgbClr val="0B3D91"/>
                </a:solidFill>
                <a:latin typeface="Calibri" pitchFamily="34" charset="0"/>
                <a:ea typeface="Calibri" pitchFamily="34" charset="-122"/>
                <a:cs typeface="Calibri" pitchFamily="34" charset="-120"/>
              </a:rPr>
              <a:t>Images 15–21</a:t>
            </a:r>
            <a:endParaRPr lang="en-US" sz="1250" dirty="0"/>
          </a:p>
        </p:txBody>
      </p:sp>
      <p:sp>
        <p:nvSpPr>
          <p:cNvPr id="24" name="Text 19"/>
          <p:cNvSpPr/>
          <p:nvPr/>
        </p:nvSpPr>
        <p:spPr>
          <a:xfrm>
            <a:off x="548640" y="3246120"/>
            <a:ext cx="5486400" cy="365760"/>
          </a:xfrm>
          <a:prstGeom prst="rect">
            <a:avLst/>
          </a:prstGeom>
          <a:noFill/>
          <a:ln/>
        </p:spPr>
        <p:txBody>
          <a:bodyPr wrap="square" rtlCol="0" anchor="ctr"/>
          <a:lstStyle/>
          <a:p>
            <a:pPr marL="0" indent="0">
              <a:buNone/>
            </a:pPr>
            <a:r>
              <a:rPr lang="en-US" sz="1700" b="1" dirty="0">
                <a:solidFill>
                  <a:srgbClr val="0B3D91"/>
                </a:solidFill>
                <a:latin typeface="Calibri" pitchFamily="34" charset="0"/>
                <a:ea typeface="Calibri" pitchFamily="34" charset="-122"/>
                <a:cs typeface="Calibri" pitchFamily="34" charset="-120"/>
              </a:rPr>
              <a:t>Core Responsibilities</a:t>
            </a:r>
            <a:endParaRPr lang="en-US" sz="1700" dirty="0"/>
          </a:p>
        </p:txBody>
      </p:sp>
      <p:sp>
        <p:nvSpPr>
          <p:cNvPr id="25" name="Shape 20"/>
          <p:cNvSpPr/>
          <p:nvPr/>
        </p:nvSpPr>
        <p:spPr>
          <a:xfrm>
            <a:off x="548640" y="3703320"/>
            <a:ext cx="5257800" cy="1005840"/>
          </a:xfrm>
          <a:prstGeom prst="roundRect">
            <a:avLst>
              <a:gd name="adj" fmla="val 9091"/>
            </a:avLst>
          </a:prstGeom>
          <a:solidFill>
            <a:srgbClr val="FFFFFF"/>
          </a:solidFill>
          <a:ln w="12700">
            <a:solidFill>
              <a:srgbClr val="DCE6F0"/>
            </a:solidFill>
            <a:prstDash val="solid"/>
          </a:ln>
          <a:effectLst>
            <a:outerShdw blurRad="63500" dist="25400" dir="5400000" algn="bl" rotWithShape="0">
              <a:srgbClr val="9AB4CC">
                <a:alpha val="28000"/>
              </a:srgbClr>
            </a:outerShdw>
          </a:effectLst>
        </p:spPr>
      </p:sp>
      <p:sp>
        <p:nvSpPr>
          <p:cNvPr id="26" name="Shape 21"/>
          <p:cNvSpPr/>
          <p:nvPr/>
        </p:nvSpPr>
        <p:spPr>
          <a:xfrm>
            <a:off x="731520" y="3904488"/>
            <a:ext cx="594360" cy="594360"/>
          </a:xfrm>
          <a:prstGeom prst="ellipse">
            <a:avLst/>
          </a:prstGeom>
          <a:solidFill>
            <a:srgbClr val="2E86C1"/>
          </a:solidFill>
          <a:ln/>
        </p:spPr>
      </p:sp>
      <p:pic>
        <p:nvPicPr>
          <p:cNvPr id="27" name="Image 3" descr="/home/claude/pptx_build/icons/http_FFFFFF.png"/>
          <p:cNvPicPr>
            <a:picLocks noChangeAspect="1"/>
          </p:cNvPicPr>
          <p:nvPr/>
        </p:nvPicPr>
        <p:blipFill>
          <a:blip r:embed="rId4"/>
          <a:stretch>
            <a:fillRect/>
          </a:stretch>
        </p:blipFill>
        <p:spPr>
          <a:xfrm>
            <a:off x="802843" y="3975811"/>
            <a:ext cx="451714" cy="451714"/>
          </a:xfrm>
          <a:prstGeom prst="rect">
            <a:avLst/>
          </a:prstGeom>
        </p:spPr>
      </p:pic>
      <p:sp>
        <p:nvSpPr>
          <p:cNvPr id="28" name="Text 22"/>
          <p:cNvSpPr/>
          <p:nvPr/>
        </p:nvSpPr>
        <p:spPr>
          <a:xfrm>
            <a:off x="1508760" y="3840480"/>
            <a:ext cx="4114800" cy="320040"/>
          </a:xfrm>
          <a:prstGeom prst="rect">
            <a:avLst/>
          </a:prstGeom>
          <a:noFill/>
          <a:ln/>
        </p:spPr>
        <p:txBody>
          <a:bodyPr wrap="square" rtlCol="0" anchor="ctr"/>
          <a:lstStyle/>
          <a:p>
            <a:pPr marL="0" indent="0">
              <a:buNone/>
            </a:pPr>
            <a:r>
              <a:rPr lang="en-US" sz="1300" b="1" dirty="0">
                <a:solidFill>
                  <a:srgbClr val="0B3D91"/>
                </a:solidFill>
                <a:latin typeface="Calibri" pitchFamily="34" charset="0"/>
                <a:ea typeface="Calibri" pitchFamily="34" charset="-122"/>
                <a:cs typeface="Calibri" pitchFamily="34" charset="-120"/>
              </a:rPr>
              <a:t>Receive HTTP Requests</a:t>
            </a:r>
            <a:endParaRPr lang="en-US" sz="1300" dirty="0"/>
          </a:p>
        </p:txBody>
      </p:sp>
      <p:sp>
        <p:nvSpPr>
          <p:cNvPr id="29" name="Text 23"/>
          <p:cNvSpPr/>
          <p:nvPr/>
        </p:nvSpPr>
        <p:spPr>
          <a:xfrm>
            <a:off x="1508760" y="4160520"/>
            <a:ext cx="4160520" cy="502920"/>
          </a:xfrm>
          <a:prstGeom prst="rect">
            <a:avLst/>
          </a:prstGeom>
          <a:noFill/>
          <a:ln/>
        </p:spPr>
        <p:txBody>
          <a:bodyPr wrap="square" rtlCol="0" anchor="ctr"/>
          <a:lstStyle/>
          <a:p>
            <a:pPr marL="0" indent="0">
              <a:buNone/>
            </a:pPr>
            <a:r>
              <a:rPr lang="en-US" sz="1100" dirty="0">
                <a:solidFill>
                  <a:srgbClr val="6B8CAE"/>
                </a:solidFill>
                <a:latin typeface="Calibri" pitchFamily="34" charset="0"/>
                <a:ea typeface="Calibri" pitchFamily="34" charset="-122"/>
                <a:cs typeface="Calibri" pitchFamily="34" charset="-120"/>
              </a:rPr>
              <a:t>Accepts image requests from clients over HTTP</a:t>
            </a:r>
            <a:endParaRPr lang="en-US" sz="1100" dirty="0"/>
          </a:p>
        </p:txBody>
      </p:sp>
      <p:sp>
        <p:nvSpPr>
          <p:cNvPr id="30" name="Shape 24"/>
          <p:cNvSpPr/>
          <p:nvPr/>
        </p:nvSpPr>
        <p:spPr>
          <a:xfrm>
            <a:off x="6126480" y="3703320"/>
            <a:ext cx="5257800" cy="1005840"/>
          </a:xfrm>
          <a:prstGeom prst="roundRect">
            <a:avLst>
              <a:gd name="adj" fmla="val 9091"/>
            </a:avLst>
          </a:prstGeom>
          <a:solidFill>
            <a:srgbClr val="FFFFFF"/>
          </a:solidFill>
          <a:ln w="12700">
            <a:solidFill>
              <a:srgbClr val="DCE6F0"/>
            </a:solidFill>
            <a:prstDash val="solid"/>
          </a:ln>
          <a:effectLst>
            <a:outerShdw blurRad="63500" dist="25400" dir="5400000" algn="bl" rotWithShape="0">
              <a:srgbClr val="9AB4CC">
                <a:alpha val="28000"/>
              </a:srgbClr>
            </a:outerShdw>
          </a:effectLst>
        </p:spPr>
      </p:sp>
      <p:sp>
        <p:nvSpPr>
          <p:cNvPr id="31" name="Shape 25"/>
          <p:cNvSpPr/>
          <p:nvPr/>
        </p:nvSpPr>
        <p:spPr>
          <a:xfrm>
            <a:off x="6309360" y="3904488"/>
            <a:ext cx="594360" cy="594360"/>
          </a:xfrm>
          <a:prstGeom prst="ellipse">
            <a:avLst/>
          </a:prstGeom>
          <a:solidFill>
            <a:srgbClr val="2E86C1"/>
          </a:solidFill>
          <a:ln/>
        </p:spPr>
      </p:sp>
      <p:pic>
        <p:nvPicPr>
          <p:cNvPr id="32" name="Image 4" descr="/home/claude/pptx_build/icons/database_FFFFFF.png"/>
          <p:cNvPicPr>
            <a:picLocks noChangeAspect="1"/>
          </p:cNvPicPr>
          <p:nvPr/>
        </p:nvPicPr>
        <p:blipFill>
          <a:blip r:embed="rId5"/>
          <a:stretch>
            <a:fillRect/>
          </a:stretch>
        </p:blipFill>
        <p:spPr>
          <a:xfrm>
            <a:off x="6380683" y="3975811"/>
            <a:ext cx="451714" cy="451714"/>
          </a:xfrm>
          <a:prstGeom prst="rect">
            <a:avLst/>
          </a:prstGeom>
        </p:spPr>
      </p:pic>
      <p:sp>
        <p:nvSpPr>
          <p:cNvPr id="33" name="Text 26"/>
          <p:cNvSpPr/>
          <p:nvPr/>
        </p:nvSpPr>
        <p:spPr>
          <a:xfrm>
            <a:off x="7086600" y="3840480"/>
            <a:ext cx="4114800" cy="320040"/>
          </a:xfrm>
          <a:prstGeom prst="rect">
            <a:avLst/>
          </a:prstGeom>
          <a:noFill/>
          <a:ln/>
        </p:spPr>
        <p:txBody>
          <a:bodyPr wrap="square" rtlCol="0" anchor="ctr"/>
          <a:lstStyle/>
          <a:p>
            <a:pPr marL="0" indent="0">
              <a:buNone/>
            </a:pPr>
            <a:r>
              <a:rPr lang="en-US" sz="1300" b="1" dirty="0">
                <a:solidFill>
                  <a:srgbClr val="0B3D91"/>
                </a:solidFill>
                <a:latin typeface="Calibri" pitchFamily="34" charset="0"/>
                <a:ea typeface="Calibri" pitchFamily="34" charset="-122"/>
                <a:cs typeface="Calibri" pitchFamily="34" charset="-120"/>
              </a:rPr>
              <a:t>Serve Cached Content</a:t>
            </a:r>
            <a:endParaRPr lang="en-US" sz="1300" dirty="0"/>
          </a:p>
        </p:txBody>
      </p:sp>
      <p:sp>
        <p:nvSpPr>
          <p:cNvPr id="34" name="Text 27"/>
          <p:cNvSpPr/>
          <p:nvPr/>
        </p:nvSpPr>
        <p:spPr>
          <a:xfrm>
            <a:off x="7086600" y="4160520"/>
            <a:ext cx="4160520" cy="502920"/>
          </a:xfrm>
          <a:prstGeom prst="rect">
            <a:avLst/>
          </a:prstGeom>
          <a:noFill/>
          <a:ln/>
        </p:spPr>
        <p:txBody>
          <a:bodyPr wrap="square" rtlCol="0" anchor="ctr"/>
          <a:lstStyle/>
          <a:p>
            <a:pPr marL="0" indent="0">
              <a:buNone/>
            </a:pPr>
            <a:r>
              <a:rPr lang="en-US" sz="1100" dirty="0">
                <a:solidFill>
                  <a:srgbClr val="6B8CAE"/>
                </a:solidFill>
                <a:latin typeface="Calibri" pitchFamily="34" charset="0"/>
                <a:ea typeface="Calibri" pitchFamily="34" charset="-122"/>
                <a:cs typeface="Calibri" pitchFamily="34" charset="-120"/>
              </a:rPr>
              <a:t>Returns locally cached images without delay</a:t>
            </a:r>
            <a:endParaRPr lang="en-US" sz="1100" dirty="0"/>
          </a:p>
        </p:txBody>
      </p:sp>
      <p:sp>
        <p:nvSpPr>
          <p:cNvPr id="35" name="Shape 28"/>
          <p:cNvSpPr/>
          <p:nvPr/>
        </p:nvSpPr>
        <p:spPr>
          <a:xfrm>
            <a:off x="548640" y="4892040"/>
            <a:ext cx="5257800" cy="1005840"/>
          </a:xfrm>
          <a:prstGeom prst="roundRect">
            <a:avLst>
              <a:gd name="adj" fmla="val 9091"/>
            </a:avLst>
          </a:prstGeom>
          <a:solidFill>
            <a:srgbClr val="FFFFFF"/>
          </a:solidFill>
          <a:ln w="12700">
            <a:solidFill>
              <a:srgbClr val="DCE6F0"/>
            </a:solidFill>
            <a:prstDash val="solid"/>
          </a:ln>
          <a:effectLst>
            <a:outerShdw blurRad="63500" dist="25400" dir="5400000" algn="bl" rotWithShape="0">
              <a:srgbClr val="9AB4CC">
                <a:alpha val="28000"/>
              </a:srgbClr>
            </a:outerShdw>
          </a:effectLst>
        </p:spPr>
      </p:sp>
      <p:sp>
        <p:nvSpPr>
          <p:cNvPr id="36" name="Shape 29"/>
          <p:cNvSpPr/>
          <p:nvPr/>
        </p:nvSpPr>
        <p:spPr>
          <a:xfrm>
            <a:off x="731520" y="5093208"/>
            <a:ext cx="594360" cy="594360"/>
          </a:xfrm>
          <a:prstGeom prst="ellipse">
            <a:avLst/>
          </a:prstGeom>
          <a:solidFill>
            <a:srgbClr val="2E86C1"/>
          </a:solidFill>
          <a:ln/>
        </p:spPr>
      </p:sp>
      <p:pic>
        <p:nvPicPr>
          <p:cNvPr id="37" name="Image 5" descr="/home/claude/pptx_build/icons/cloud_FFFFFF.png"/>
          <p:cNvPicPr>
            <a:picLocks noChangeAspect="1"/>
          </p:cNvPicPr>
          <p:nvPr/>
        </p:nvPicPr>
        <p:blipFill>
          <a:blip r:embed="rId6"/>
          <a:stretch>
            <a:fillRect/>
          </a:stretch>
        </p:blipFill>
        <p:spPr>
          <a:xfrm>
            <a:off x="802843" y="5164531"/>
            <a:ext cx="451714" cy="451714"/>
          </a:xfrm>
          <a:prstGeom prst="rect">
            <a:avLst/>
          </a:prstGeom>
        </p:spPr>
      </p:pic>
      <p:sp>
        <p:nvSpPr>
          <p:cNvPr id="38" name="Text 30"/>
          <p:cNvSpPr/>
          <p:nvPr/>
        </p:nvSpPr>
        <p:spPr>
          <a:xfrm>
            <a:off x="1508760" y="5029200"/>
            <a:ext cx="4114800" cy="320040"/>
          </a:xfrm>
          <a:prstGeom prst="rect">
            <a:avLst/>
          </a:prstGeom>
          <a:noFill/>
          <a:ln/>
        </p:spPr>
        <p:txBody>
          <a:bodyPr wrap="square" rtlCol="0" anchor="ctr"/>
          <a:lstStyle/>
          <a:p>
            <a:pPr marL="0" indent="0">
              <a:buNone/>
            </a:pPr>
            <a:r>
              <a:rPr lang="en-US" sz="1300" b="1" dirty="0">
                <a:solidFill>
                  <a:srgbClr val="0B3D91"/>
                </a:solidFill>
                <a:latin typeface="Calibri" pitchFamily="34" charset="0"/>
                <a:ea typeface="Calibri" pitchFamily="34" charset="-122"/>
                <a:cs typeface="Calibri" pitchFamily="34" charset="-120"/>
              </a:rPr>
              <a:t>Retrieve Missing Content</a:t>
            </a:r>
            <a:endParaRPr lang="en-US" sz="1300" dirty="0"/>
          </a:p>
        </p:txBody>
      </p:sp>
      <p:sp>
        <p:nvSpPr>
          <p:cNvPr id="39" name="Text 31"/>
          <p:cNvSpPr/>
          <p:nvPr/>
        </p:nvSpPr>
        <p:spPr>
          <a:xfrm>
            <a:off x="1508760" y="5349240"/>
            <a:ext cx="4160520" cy="502920"/>
          </a:xfrm>
          <a:prstGeom prst="rect">
            <a:avLst/>
          </a:prstGeom>
          <a:noFill/>
          <a:ln/>
        </p:spPr>
        <p:txBody>
          <a:bodyPr wrap="square" rtlCol="0" anchor="ctr"/>
          <a:lstStyle/>
          <a:p>
            <a:pPr marL="0" indent="0">
              <a:buNone/>
            </a:pPr>
            <a:r>
              <a:rPr lang="en-US" sz="1100" dirty="0">
                <a:solidFill>
                  <a:srgbClr val="6B8CAE"/>
                </a:solidFill>
                <a:latin typeface="Calibri" pitchFamily="34" charset="0"/>
                <a:ea typeface="Calibri" pitchFamily="34" charset="-122"/>
                <a:cs typeface="Calibri" pitchFamily="34" charset="-120"/>
              </a:rPr>
              <a:t>Fetches uncached images from the Global Server</a:t>
            </a:r>
            <a:endParaRPr lang="en-US" sz="1100" dirty="0"/>
          </a:p>
        </p:txBody>
      </p:sp>
      <p:sp>
        <p:nvSpPr>
          <p:cNvPr id="40" name="Shape 32"/>
          <p:cNvSpPr/>
          <p:nvPr/>
        </p:nvSpPr>
        <p:spPr>
          <a:xfrm>
            <a:off x="6126480" y="4892040"/>
            <a:ext cx="5257800" cy="1005840"/>
          </a:xfrm>
          <a:prstGeom prst="roundRect">
            <a:avLst>
              <a:gd name="adj" fmla="val 9091"/>
            </a:avLst>
          </a:prstGeom>
          <a:solidFill>
            <a:srgbClr val="FFFFFF"/>
          </a:solidFill>
          <a:ln w="12700">
            <a:solidFill>
              <a:srgbClr val="DCE6F0"/>
            </a:solidFill>
            <a:prstDash val="solid"/>
          </a:ln>
          <a:effectLst>
            <a:outerShdw blurRad="63500" dist="25400" dir="5400000" algn="bl" rotWithShape="0">
              <a:srgbClr val="9AB4CC">
                <a:alpha val="28000"/>
              </a:srgbClr>
            </a:outerShdw>
          </a:effectLst>
        </p:spPr>
      </p:sp>
      <p:sp>
        <p:nvSpPr>
          <p:cNvPr id="41" name="Shape 33"/>
          <p:cNvSpPr/>
          <p:nvPr/>
        </p:nvSpPr>
        <p:spPr>
          <a:xfrm>
            <a:off x="6309360" y="5093208"/>
            <a:ext cx="594360" cy="594360"/>
          </a:xfrm>
          <a:prstGeom prst="ellipse">
            <a:avLst/>
          </a:prstGeom>
          <a:solidFill>
            <a:srgbClr val="2E86C1"/>
          </a:solidFill>
          <a:ln/>
        </p:spPr>
      </p:sp>
      <p:pic>
        <p:nvPicPr>
          <p:cNvPr id="42" name="Image 6" descr="/home/claude/pptx_build/icons/sitemap_FFFFFF.png"/>
          <p:cNvPicPr>
            <a:picLocks noChangeAspect="1"/>
          </p:cNvPicPr>
          <p:nvPr/>
        </p:nvPicPr>
        <p:blipFill>
          <a:blip r:embed="rId7"/>
          <a:stretch>
            <a:fillRect/>
          </a:stretch>
        </p:blipFill>
        <p:spPr>
          <a:xfrm>
            <a:off x="6380683" y="5164531"/>
            <a:ext cx="451714" cy="451714"/>
          </a:xfrm>
          <a:prstGeom prst="rect">
            <a:avLst/>
          </a:prstGeom>
        </p:spPr>
      </p:pic>
      <p:sp>
        <p:nvSpPr>
          <p:cNvPr id="43" name="Text 34"/>
          <p:cNvSpPr/>
          <p:nvPr/>
        </p:nvSpPr>
        <p:spPr>
          <a:xfrm>
            <a:off x="7086600" y="5029200"/>
            <a:ext cx="4114800" cy="320040"/>
          </a:xfrm>
          <a:prstGeom prst="rect">
            <a:avLst/>
          </a:prstGeom>
          <a:noFill/>
          <a:ln/>
        </p:spPr>
        <p:txBody>
          <a:bodyPr wrap="square" rtlCol="0" anchor="ctr"/>
          <a:lstStyle/>
          <a:p>
            <a:pPr marL="0" indent="0">
              <a:buNone/>
            </a:pPr>
            <a:r>
              <a:rPr lang="en-US" sz="1300" b="1" dirty="0">
                <a:solidFill>
                  <a:srgbClr val="0B3D91"/>
                </a:solidFill>
                <a:latin typeface="Calibri" pitchFamily="34" charset="0"/>
                <a:ea typeface="Calibri" pitchFamily="34" charset="-122"/>
                <a:cs typeface="Calibri" pitchFamily="34" charset="-120"/>
              </a:rPr>
              <a:t>Forward Requests</a:t>
            </a:r>
            <a:endParaRPr lang="en-US" sz="1300" dirty="0"/>
          </a:p>
        </p:txBody>
      </p:sp>
      <p:sp>
        <p:nvSpPr>
          <p:cNvPr id="44" name="Text 35"/>
          <p:cNvSpPr/>
          <p:nvPr/>
        </p:nvSpPr>
        <p:spPr>
          <a:xfrm>
            <a:off x="7086600" y="5349240"/>
            <a:ext cx="4160520" cy="502920"/>
          </a:xfrm>
          <a:prstGeom prst="rect">
            <a:avLst/>
          </a:prstGeom>
          <a:noFill/>
          <a:ln/>
        </p:spPr>
        <p:txBody>
          <a:bodyPr wrap="square" rtlCol="0" anchor="ctr"/>
          <a:lstStyle/>
          <a:p>
            <a:pPr marL="0" indent="0">
              <a:buNone/>
            </a:pPr>
            <a:r>
              <a:rPr lang="en-US" sz="1100" dirty="0">
                <a:solidFill>
                  <a:srgbClr val="6B8CAE"/>
                </a:solidFill>
                <a:latin typeface="Calibri" pitchFamily="34" charset="0"/>
                <a:ea typeface="Calibri" pitchFamily="34" charset="-122"/>
                <a:cs typeface="Calibri" pitchFamily="34" charset="-120"/>
              </a:rPr>
              <a:t>Routes requests to the correct edge server when needed</a:t>
            </a:r>
            <a:endParaRPr lang="en-US" sz="1100" dirty="0"/>
          </a:p>
        </p:txBody>
      </p:sp>
      <p:sp>
        <p:nvSpPr>
          <p:cNvPr id="46" name="Text 37"/>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6B8CA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b="1" dirty="0">
                <a:solidFill>
                  <a:srgbClr val="0B3D91"/>
                </a:solidFill>
                <a:latin typeface="Cambria" pitchFamily="34" charset="0"/>
                <a:ea typeface="Cambria" pitchFamily="34" charset="-122"/>
                <a:cs typeface="Cambria" pitchFamily="34" charset="-120"/>
              </a:rPr>
              <a:t>Client Request Flow — Example</a:t>
            </a:r>
            <a:endParaRPr lang="en-US" sz="3000" dirty="0"/>
          </a:p>
        </p:txBody>
      </p:sp>
      <p:sp>
        <p:nvSpPr>
          <p:cNvPr id="3" name="Text 1"/>
          <p:cNvSpPr/>
          <p:nvPr/>
        </p:nvSpPr>
        <p:spPr>
          <a:xfrm>
            <a:off x="548640" y="1005840"/>
            <a:ext cx="7315200" cy="365760"/>
          </a:xfrm>
          <a:prstGeom prst="rect">
            <a:avLst/>
          </a:prstGeom>
          <a:noFill/>
          <a:ln/>
        </p:spPr>
        <p:txBody>
          <a:bodyPr wrap="square" rtlCol="0" anchor="ctr"/>
          <a:lstStyle/>
          <a:p>
            <a:pPr marL="0" indent="0">
              <a:buNone/>
            </a:pPr>
            <a:r>
              <a:rPr lang="en-US" sz="1500" b="1" i="1" dirty="0">
                <a:solidFill>
                  <a:srgbClr val="2E86C1"/>
                </a:solidFill>
                <a:latin typeface="Calibri" pitchFamily="34" charset="0"/>
                <a:ea typeface="Calibri" pitchFamily="34" charset="-122"/>
                <a:cs typeface="Calibri" pitchFamily="34" charset="-120"/>
              </a:rPr>
              <a:t>Example: Client requests 12.jpg</a:t>
            </a:r>
            <a:endParaRPr lang="en-US" sz="1500" dirty="0"/>
          </a:p>
        </p:txBody>
      </p:sp>
      <p:sp>
        <p:nvSpPr>
          <p:cNvPr id="4" name="Text 2"/>
          <p:cNvSpPr/>
          <p:nvPr/>
        </p:nvSpPr>
        <p:spPr>
          <a:xfrm>
            <a:off x="548640" y="1463040"/>
            <a:ext cx="5486400" cy="320040"/>
          </a:xfrm>
          <a:prstGeom prst="rect">
            <a:avLst/>
          </a:prstGeom>
          <a:noFill/>
          <a:ln/>
        </p:spPr>
        <p:txBody>
          <a:bodyPr wrap="square" rtlCol="0" anchor="ctr"/>
          <a:lstStyle/>
          <a:p>
            <a:pPr marL="0" indent="0">
              <a:buNone/>
            </a:pPr>
            <a:r>
              <a:rPr lang="en-US" sz="1350" b="1" dirty="0">
                <a:solidFill>
                  <a:srgbClr val="0B3D91"/>
                </a:solidFill>
                <a:latin typeface="Calibri" pitchFamily="34" charset="0"/>
                <a:ea typeface="Calibri" pitchFamily="34" charset="-122"/>
                <a:cs typeface="Calibri" pitchFamily="34" charset="-120"/>
              </a:rPr>
              <a:t>First Request — Cache Miss</a:t>
            </a:r>
            <a:endParaRPr lang="en-US" sz="1350" dirty="0"/>
          </a:p>
        </p:txBody>
      </p:sp>
      <p:sp>
        <p:nvSpPr>
          <p:cNvPr id="5" name="Shape 3"/>
          <p:cNvSpPr/>
          <p:nvPr/>
        </p:nvSpPr>
        <p:spPr>
          <a:xfrm>
            <a:off x="548640" y="1874520"/>
            <a:ext cx="1965960" cy="822960"/>
          </a:xfrm>
          <a:prstGeom prst="roundRect">
            <a:avLst>
              <a:gd name="adj" fmla="val 11111"/>
            </a:avLst>
          </a:prstGeom>
          <a:solidFill>
            <a:srgbClr val="2E86C1"/>
          </a:solidFill>
          <a:ln/>
        </p:spPr>
      </p:sp>
      <p:sp>
        <p:nvSpPr>
          <p:cNvPr id="6" name="Text 4"/>
          <p:cNvSpPr/>
          <p:nvPr/>
        </p:nvSpPr>
        <p:spPr>
          <a:xfrm>
            <a:off x="548640" y="1874520"/>
            <a:ext cx="1965960" cy="8229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Client</a:t>
            </a:r>
            <a:endParaRPr lang="en-US" sz="1150" dirty="0"/>
          </a:p>
        </p:txBody>
      </p:sp>
      <p:sp>
        <p:nvSpPr>
          <p:cNvPr id="7" name="Shape 5"/>
          <p:cNvSpPr/>
          <p:nvPr/>
        </p:nvSpPr>
        <p:spPr>
          <a:xfrm>
            <a:off x="2514600" y="2203704"/>
            <a:ext cx="320040" cy="164592"/>
          </a:xfrm>
          <a:prstGeom prst="rightArrow">
            <a:avLst/>
          </a:prstGeom>
          <a:solidFill>
            <a:srgbClr val="6B8CAE"/>
          </a:solidFill>
          <a:ln/>
        </p:spPr>
      </p:sp>
      <p:sp>
        <p:nvSpPr>
          <p:cNvPr id="8" name="Shape 6"/>
          <p:cNvSpPr/>
          <p:nvPr/>
        </p:nvSpPr>
        <p:spPr>
          <a:xfrm>
            <a:off x="2834640" y="1874520"/>
            <a:ext cx="1965960" cy="822960"/>
          </a:xfrm>
          <a:prstGeom prst="roundRect">
            <a:avLst>
              <a:gd name="adj" fmla="val 11111"/>
            </a:avLst>
          </a:prstGeom>
          <a:solidFill>
            <a:srgbClr val="0B3D91"/>
          </a:solidFill>
          <a:ln/>
        </p:spPr>
      </p:sp>
      <p:sp>
        <p:nvSpPr>
          <p:cNvPr id="9" name="Text 7"/>
          <p:cNvSpPr/>
          <p:nvPr/>
        </p:nvSpPr>
        <p:spPr>
          <a:xfrm>
            <a:off x="2834640" y="1874520"/>
            <a:ext cx="1965960" cy="8229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Edge 1</a:t>
            </a:r>
            <a:endParaRPr lang="en-US" sz="1150" dirty="0"/>
          </a:p>
        </p:txBody>
      </p:sp>
      <p:sp>
        <p:nvSpPr>
          <p:cNvPr id="10" name="Shape 8"/>
          <p:cNvSpPr/>
          <p:nvPr/>
        </p:nvSpPr>
        <p:spPr>
          <a:xfrm>
            <a:off x="4800600" y="2203704"/>
            <a:ext cx="320040" cy="164592"/>
          </a:xfrm>
          <a:prstGeom prst="rightArrow">
            <a:avLst/>
          </a:prstGeom>
          <a:solidFill>
            <a:srgbClr val="6B8CAE"/>
          </a:solidFill>
          <a:ln/>
        </p:spPr>
      </p:sp>
      <p:sp>
        <p:nvSpPr>
          <p:cNvPr id="11" name="Shape 9"/>
          <p:cNvSpPr/>
          <p:nvPr/>
        </p:nvSpPr>
        <p:spPr>
          <a:xfrm>
            <a:off x="5120640" y="1874520"/>
            <a:ext cx="1965960" cy="822960"/>
          </a:xfrm>
          <a:prstGeom prst="roundRect">
            <a:avLst>
              <a:gd name="adj" fmla="val 11111"/>
            </a:avLst>
          </a:prstGeom>
          <a:solidFill>
            <a:srgbClr val="C0392B"/>
          </a:solidFill>
          <a:ln/>
        </p:spPr>
      </p:sp>
      <p:sp>
        <p:nvSpPr>
          <p:cNvPr id="12" name="Text 10"/>
          <p:cNvSpPr/>
          <p:nvPr/>
        </p:nvSpPr>
        <p:spPr>
          <a:xfrm>
            <a:off x="5120640" y="1874520"/>
            <a:ext cx="1965960" cy="8229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Edge 2</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(Cache Miss)</a:t>
            </a:r>
            <a:endParaRPr lang="en-US" sz="1150" dirty="0"/>
          </a:p>
        </p:txBody>
      </p:sp>
      <p:sp>
        <p:nvSpPr>
          <p:cNvPr id="13" name="Shape 11"/>
          <p:cNvSpPr/>
          <p:nvPr/>
        </p:nvSpPr>
        <p:spPr>
          <a:xfrm>
            <a:off x="7086600" y="2203704"/>
            <a:ext cx="320040" cy="164592"/>
          </a:xfrm>
          <a:prstGeom prst="rightArrow">
            <a:avLst/>
          </a:prstGeom>
          <a:solidFill>
            <a:srgbClr val="6B8CAE"/>
          </a:solidFill>
          <a:ln/>
        </p:spPr>
      </p:sp>
      <p:sp>
        <p:nvSpPr>
          <p:cNvPr id="14" name="Shape 12"/>
          <p:cNvSpPr/>
          <p:nvPr/>
        </p:nvSpPr>
        <p:spPr>
          <a:xfrm>
            <a:off x="7406640" y="1874520"/>
            <a:ext cx="1965960" cy="822960"/>
          </a:xfrm>
          <a:prstGeom prst="roundRect">
            <a:avLst>
              <a:gd name="adj" fmla="val 11111"/>
            </a:avLst>
          </a:prstGeom>
          <a:solidFill>
            <a:srgbClr val="0B3D91"/>
          </a:solidFill>
          <a:ln/>
        </p:spPr>
      </p:sp>
      <p:sp>
        <p:nvSpPr>
          <p:cNvPr id="15" name="Text 13"/>
          <p:cNvSpPr/>
          <p:nvPr/>
        </p:nvSpPr>
        <p:spPr>
          <a:xfrm>
            <a:off x="7406640" y="1874520"/>
            <a:ext cx="1965960" cy="8229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Global</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Server</a:t>
            </a:r>
            <a:endParaRPr lang="en-US" sz="1150" dirty="0"/>
          </a:p>
        </p:txBody>
      </p:sp>
      <p:sp>
        <p:nvSpPr>
          <p:cNvPr id="16" name="Shape 14"/>
          <p:cNvSpPr/>
          <p:nvPr/>
        </p:nvSpPr>
        <p:spPr>
          <a:xfrm>
            <a:off x="9372600" y="2203704"/>
            <a:ext cx="320040" cy="164592"/>
          </a:xfrm>
          <a:prstGeom prst="rightArrow">
            <a:avLst/>
          </a:prstGeom>
          <a:solidFill>
            <a:srgbClr val="6B8CAE"/>
          </a:solidFill>
          <a:ln/>
        </p:spPr>
      </p:sp>
      <p:sp>
        <p:nvSpPr>
          <p:cNvPr id="17" name="Shape 15"/>
          <p:cNvSpPr/>
          <p:nvPr/>
        </p:nvSpPr>
        <p:spPr>
          <a:xfrm>
            <a:off x="9692640" y="1874520"/>
            <a:ext cx="1965960" cy="822960"/>
          </a:xfrm>
          <a:prstGeom prst="roundRect">
            <a:avLst>
              <a:gd name="adj" fmla="val 11111"/>
            </a:avLst>
          </a:prstGeom>
          <a:solidFill>
            <a:srgbClr val="2E86C1"/>
          </a:solidFill>
          <a:ln/>
        </p:spPr>
      </p:sp>
      <p:sp>
        <p:nvSpPr>
          <p:cNvPr id="18" name="Text 16"/>
          <p:cNvSpPr/>
          <p:nvPr/>
        </p:nvSpPr>
        <p:spPr>
          <a:xfrm>
            <a:off x="9692640" y="1874520"/>
            <a:ext cx="1965960" cy="8229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Client</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(Image)</a:t>
            </a:r>
            <a:endParaRPr lang="en-US" sz="1150" dirty="0"/>
          </a:p>
        </p:txBody>
      </p:sp>
      <p:sp>
        <p:nvSpPr>
          <p:cNvPr id="19" name="Text 17"/>
          <p:cNvSpPr/>
          <p:nvPr/>
        </p:nvSpPr>
        <p:spPr>
          <a:xfrm>
            <a:off x="548640" y="2770632"/>
            <a:ext cx="11109960" cy="320040"/>
          </a:xfrm>
          <a:prstGeom prst="rect">
            <a:avLst/>
          </a:prstGeom>
          <a:noFill/>
          <a:ln/>
        </p:spPr>
        <p:txBody>
          <a:bodyPr wrap="square" rtlCol="0" anchor="ctr"/>
          <a:lstStyle/>
          <a:p>
            <a:pPr marL="0" indent="0">
              <a:buNone/>
            </a:pPr>
            <a:r>
              <a:rPr lang="en-US" sz="1100" i="1" dirty="0">
                <a:solidFill>
                  <a:srgbClr val="6B8CAE"/>
                </a:solidFill>
                <a:latin typeface="Calibri" pitchFamily="34" charset="0"/>
                <a:ea typeface="Calibri" pitchFamily="34" charset="-122"/>
                <a:cs typeface="Calibri" pitchFamily="34" charset="-120"/>
              </a:rPr>
              <a:t>Edge 1 forwards → Edge 2 has a cache miss → fetches from Global Server → caches it → returns to client</a:t>
            </a:r>
            <a:endParaRPr lang="en-US" sz="1100" dirty="0"/>
          </a:p>
        </p:txBody>
      </p:sp>
      <p:sp>
        <p:nvSpPr>
          <p:cNvPr id="20" name="Text 18"/>
          <p:cNvSpPr/>
          <p:nvPr/>
        </p:nvSpPr>
        <p:spPr>
          <a:xfrm>
            <a:off x="548640" y="3291840"/>
            <a:ext cx="5486400" cy="320040"/>
          </a:xfrm>
          <a:prstGeom prst="rect">
            <a:avLst/>
          </a:prstGeom>
          <a:noFill/>
          <a:ln/>
        </p:spPr>
        <p:txBody>
          <a:bodyPr wrap="square" rtlCol="0" anchor="ctr"/>
          <a:lstStyle/>
          <a:p>
            <a:pPr marL="0" indent="0">
              <a:buNone/>
            </a:pPr>
            <a:r>
              <a:rPr lang="en-US" sz="1350" b="1" dirty="0">
                <a:solidFill>
                  <a:srgbClr val="0B3D91"/>
                </a:solidFill>
                <a:latin typeface="Calibri" pitchFamily="34" charset="0"/>
                <a:ea typeface="Calibri" pitchFamily="34" charset="-122"/>
                <a:cs typeface="Calibri" pitchFamily="34" charset="-120"/>
              </a:rPr>
              <a:t>Second Request — Cache Hit</a:t>
            </a:r>
            <a:endParaRPr lang="en-US" sz="1350" dirty="0"/>
          </a:p>
        </p:txBody>
      </p:sp>
      <p:sp>
        <p:nvSpPr>
          <p:cNvPr id="21" name="Shape 19"/>
          <p:cNvSpPr/>
          <p:nvPr/>
        </p:nvSpPr>
        <p:spPr>
          <a:xfrm>
            <a:off x="548640" y="3703320"/>
            <a:ext cx="1965960" cy="822960"/>
          </a:xfrm>
          <a:prstGeom prst="roundRect">
            <a:avLst>
              <a:gd name="adj" fmla="val 11111"/>
            </a:avLst>
          </a:prstGeom>
          <a:solidFill>
            <a:srgbClr val="2E86C1"/>
          </a:solidFill>
          <a:ln/>
        </p:spPr>
      </p:sp>
      <p:sp>
        <p:nvSpPr>
          <p:cNvPr id="22" name="Text 20"/>
          <p:cNvSpPr/>
          <p:nvPr/>
        </p:nvSpPr>
        <p:spPr>
          <a:xfrm>
            <a:off x="548640" y="3703320"/>
            <a:ext cx="1965960" cy="8229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Client</a:t>
            </a:r>
            <a:endParaRPr lang="en-US" sz="1150" dirty="0"/>
          </a:p>
        </p:txBody>
      </p:sp>
      <p:sp>
        <p:nvSpPr>
          <p:cNvPr id="23" name="Shape 21"/>
          <p:cNvSpPr/>
          <p:nvPr/>
        </p:nvSpPr>
        <p:spPr>
          <a:xfrm>
            <a:off x="2514600" y="4032504"/>
            <a:ext cx="304800" cy="164592"/>
          </a:xfrm>
          <a:prstGeom prst="rightArrow">
            <a:avLst/>
          </a:prstGeom>
          <a:solidFill>
            <a:srgbClr val="6B8CAE"/>
          </a:solidFill>
          <a:ln/>
        </p:spPr>
      </p:sp>
      <p:sp>
        <p:nvSpPr>
          <p:cNvPr id="24" name="Shape 22"/>
          <p:cNvSpPr/>
          <p:nvPr/>
        </p:nvSpPr>
        <p:spPr>
          <a:xfrm>
            <a:off x="2819400" y="3703320"/>
            <a:ext cx="1965960" cy="822960"/>
          </a:xfrm>
          <a:prstGeom prst="roundRect">
            <a:avLst>
              <a:gd name="adj" fmla="val 11111"/>
            </a:avLst>
          </a:prstGeom>
          <a:solidFill>
            <a:srgbClr val="0B3D91"/>
          </a:solidFill>
          <a:ln/>
        </p:spPr>
      </p:sp>
      <p:sp>
        <p:nvSpPr>
          <p:cNvPr id="25" name="Text 23"/>
          <p:cNvSpPr/>
          <p:nvPr/>
        </p:nvSpPr>
        <p:spPr>
          <a:xfrm>
            <a:off x="2819400" y="3703320"/>
            <a:ext cx="1965960" cy="8229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Edge 1</a:t>
            </a:r>
            <a:endParaRPr lang="en-US" sz="1150" dirty="0"/>
          </a:p>
        </p:txBody>
      </p:sp>
      <p:sp>
        <p:nvSpPr>
          <p:cNvPr id="26" name="Shape 24"/>
          <p:cNvSpPr/>
          <p:nvPr/>
        </p:nvSpPr>
        <p:spPr>
          <a:xfrm>
            <a:off x="4785360" y="4032504"/>
            <a:ext cx="304800" cy="164592"/>
          </a:xfrm>
          <a:prstGeom prst="rightArrow">
            <a:avLst/>
          </a:prstGeom>
          <a:solidFill>
            <a:srgbClr val="6B8CAE"/>
          </a:solidFill>
          <a:ln/>
        </p:spPr>
      </p:sp>
      <p:sp>
        <p:nvSpPr>
          <p:cNvPr id="27" name="Shape 25"/>
          <p:cNvSpPr/>
          <p:nvPr/>
        </p:nvSpPr>
        <p:spPr>
          <a:xfrm>
            <a:off x="5090160" y="3703320"/>
            <a:ext cx="1965960" cy="822960"/>
          </a:xfrm>
          <a:prstGeom prst="roundRect">
            <a:avLst>
              <a:gd name="adj" fmla="val 11111"/>
            </a:avLst>
          </a:prstGeom>
          <a:solidFill>
            <a:srgbClr val="1F8A3B"/>
          </a:solidFill>
          <a:ln/>
        </p:spPr>
      </p:sp>
      <p:sp>
        <p:nvSpPr>
          <p:cNvPr id="28" name="Text 26"/>
          <p:cNvSpPr/>
          <p:nvPr/>
        </p:nvSpPr>
        <p:spPr>
          <a:xfrm>
            <a:off x="5090160" y="3703320"/>
            <a:ext cx="1965960" cy="8229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Edge 2</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(Cache Hit)</a:t>
            </a:r>
            <a:endParaRPr lang="en-US" sz="1150" dirty="0"/>
          </a:p>
        </p:txBody>
      </p:sp>
      <p:sp>
        <p:nvSpPr>
          <p:cNvPr id="29" name="Shape 27"/>
          <p:cNvSpPr/>
          <p:nvPr/>
        </p:nvSpPr>
        <p:spPr>
          <a:xfrm>
            <a:off x="7056120" y="4032504"/>
            <a:ext cx="304800" cy="164592"/>
          </a:xfrm>
          <a:prstGeom prst="rightArrow">
            <a:avLst/>
          </a:prstGeom>
          <a:solidFill>
            <a:srgbClr val="6B8CAE"/>
          </a:solidFill>
          <a:ln/>
        </p:spPr>
      </p:sp>
      <p:sp>
        <p:nvSpPr>
          <p:cNvPr id="30" name="Shape 28"/>
          <p:cNvSpPr/>
          <p:nvPr/>
        </p:nvSpPr>
        <p:spPr>
          <a:xfrm>
            <a:off x="7360920" y="3703320"/>
            <a:ext cx="1965960" cy="822960"/>
          </a:xfrm>
          <a:prstGeom prst="roundRect">
            <a:avLst>
              <a:gd name="adj" fmla="val 11111"/>
            </a:avLst>
          </a:prstGeom>
          <a:solidFill>
            <a:srgbClr val="2E86C1"/>
          </a:solidFill>
          <a:ln/>
        </p:spPr>
      </p:sp>
      <p:sp>
        <p:nvSpPr>
          <p:cNvPr id="31" name="Text 29"/>
          <p:cNvSpPr/>
          <p:nvPr/>
        </p:nvSpPr>
        <p:spPr>
          <a:xfrm>
            <a:off x="7360920" y="3703320"/>
            <a:ext cx="1965960" cy="8229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Client</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(Image)</a:t>
            </a:r>
            <a:endParaRPr lang="en-US" sz="1150" dirty="0"/>
          </a:p>
        </p:txBody>
      </p:sp>
      <p:sp>
        <p:nvSpPr>
          <p:cNvPr id="32" name="Text 30"/>
          <p:cNvSpPr/>
          <p:nvPr/>
        </p:nvSpPr>
        <p:spPr>
          <a:xfrm>
            <a:off x="548640" y="4599432"/>
            <a:ext cx="11109960" cy="320040"/>
          </a:xfrm>
          <a:prstGeom prst="rect">
            <a:avLst/>
          </a:prstGeom>
          <a:noFill/>
          <a:ln/>
        </p:spPr>
        <p:txBody>
          <a:bodyPr wrap="square" rtlCol="0" anchor="ctr"/>
          <a:lstStyle/>
          <a:p>
            <a:pPr marL="0" indent="0">
              <a:buNone/>
            </a:pPr>
            <a:r>
              <a:rPr lang="en-US" sz="1100" i="1" dirty="0">
                <a:solidFill>
                  <a:srgbClr val="6B8CAE"/>
                </a:solidFill>
                <a:latin typeface="Calibri" pitchFamily="34" charset="0"/>
                <a:ea typeface="Calibri" pitchFamily="34" charset="-122"/>
                <a:cs typeface="Calibri" pitchFamily="34" charset="-120"/>
              </a:rPr>
              <a:t>Edge 2 already has 12.jpg cached from the earlier fetch — the image is returned instantly, with no Global Server contact.</a:t>
            </a:r>
            <a:endParaRPr lang="en-US" sz="1100" dirty="0"/>
          </a:p>
        </p:txBody>
      </p:sp>
      <p:sp>
        <p:nvSpPr>
          <p:cNvPr id="33" name="Shape 31"/>
          <p:cNvSpPr/>
          <p:nvPr/>
        </p:nvSpPr>
        <p:spPr>
          <a:xfrm>
            <a:off x="548640" y="5349240"/>
            <a:ext cx="11109960" cy="868680"/>
          </a:xfrm>
          <a:prstGeom prst="roundRect">
            <a:avLst>
              <a:gd name="adj" fmla="val 10526"/>
            </a:avLst>
          </a:prstGeom>
          <a:solidFill>
            <a:srgbClr val="00B4D8"/>
          </a:solidFill>
          <a:ln/>
        </p:spPr>
      </p:sp>
      <p:sp>
        <p:nvSpPr>
          <p:cNvPr id="34" name="Shape 32"/>
          <p:cNvSpPr/>
          <p:nvPr/>
        </p:nvSpPr>
        <p:spPr>
          <a:xfrm>
            <a:off x="777240" y="5468112"/>
            <a:ext cx="594360" cy="594360"/>
          </a:xfrm>
          <a:prstGeom prst="ellipse">
            <a:avLst/>
          </a:prstGeom>
          <a:solidFill>
            <a:srgbClr val="0B3D91"/>
          </a:solidFill>
          <a:ln/>
        </p:spPr>
      </p:sp>
      <p:pic>
        <p:nvPicPr>
          <p:cNvPr id="35" name="Image 0" descr="/home/claude/pptx_build/icons/bolt_FFFFFF.png"/>
          <p:cNvPicPr>
            <a:picLocks noChangeAspect="1"/>
          </p:cNvPicPr>
          <p:nvPr/>
        </p:nvPicPr>
        <p:blipFill>
          <a:blip r:embed="rId3"/>
          <a:stretch>
            <a:fillRect/>
          </a:stretch>
        </p:blipFill>
        <p:spPr>
          <a:xfrm>
            <a:off x="848563" y="5539435"/>
            <a:ext cx="451714" cy="451714"/>
          </a:xfrm>
          <a:prstGeom prst="rect">
            <a:avLst/>
          </a:prstGeom>
        </p:spPr>
      </p:pic>
      <p:sp>
        <p:nvSpPr>
          <p:cNvPr id="36" name="Text 33"/>
          <p:cNvSpPr/>
          <p:nvPr/>
        </p:nvSpPr>
        <p:spPr>
          <a:xfrm>
            <a:off x="1554480" y="5349240"/>
            <a:ext cx="9784080" cy="868680"/>
          </a:xfrm>
          <a:prstGeom prst="rect">
            <a:avLst/>
          </a:prstGeom>
          <a:noFill/>
          <a:ln/>
        </p:spPr>
        <p:txBody>
          <a:bodyPr wrap="square" rtlCol="0" anchor="ctr"/>
          <a:lstStyle/>
          <a:p>
            <a:pPr marL="0" indent="0">
              <a:buNone/>
            </a:pPr>
            <a:r>
              <a:rPr lang="en-US" sz="1300" b="1" dirty="0">
                <a:solidFill>
                  <a:srgbClr val="0B3D91"/>
                </a:solidFill>
                <a:latin typeface="Calibri" pitchFamily="34" charset="0"/>
                <a:ea typeface="Calibri" pitchFamily="34" charset="-122"/>
                <a:cs typeface="Calibri" pitchFamily="34" charset="-120"/>
              </a:rPr>
              <a:t>Caching at the edge turns a multi-hop, cross-network fetch into a near-instant local response for repeat requests.</a:t>
            </a:r>
            <a:endParaRPr lang="en-US" sz="1300" dirty="0"/>
          </a:p>
        </p:txBody>
      </p:sp>
      <p:sp>
        <p:nvSpPr>
          <p:cNvPr id="38" name="Text 3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6B8CA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b="1" dirty="0">
                <a:solidFill>
                  <a:srgbClr val="0B3D91"/>
                </a:solidFill>
                <a:latin typeface="Cambria" pitchFamily="34" charset="0"/>
                <a:ea typeface="Cambria" pitchFamily="34" charset="-122"/>
                <a:cs typeface="Cambria" pitchFamily="34" charset="-120"/>
              </a:rPr>
              <a:t>Technologies Used</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7863840" cy="4855464"/>
        </p:xfrm>
        <a:graphic>
          <a:graphicData uri="http://schemas.openxmlformats.org/drawingml/2006/table">
            <a:tbl>
              <a:tblPr/>
              <a:tblGrid>
                <a:gridCol w="3931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539496">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Component</a:t>
                      </a:r>
                      <a:endParaRPr lang="en-US" sz="14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0B3D91"/>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Technology</a:t>
                      </a:r>
                      <a:endParaRPr lang="en-US" sz="14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0B3D91"/>
                    </a:solidFill>
                  </a:tcPr>
                </a:tc>
                <a:extLst>
                  <a:ext uri="{0D108BD9-81ED-4DB2-BD59-A6C34878D82A}">
                    <a16:rowId xmlns:a16="http://schemas.microsoft.com/office/drawing/2014/main" val="10000"/>
                  </a:ext>
                </a:extLst>
              </a:tr>
              <a:tr h="539496">
                <a:tc>
                  <a:txBody>
                    <a:bodyPr/>
                    <a:lstStyle/>
                    <a:p>
                      <a:pPr marL="0" indent="0" algn="l">
                        <a:buNone/>
                      </a:pPr>
                      <a:r>
                        <a:rPr lang="en-US" sz="1300" dirty="0">
                          <a:solidFill>
                            <a:srgbClr val="16324F"/>
                          </a:solidFill>
                          <a:latin typeface="Calibri" pitchFamily="34" charset="0"/>
                          <a:ea typeface="Calibri" pitchFamily="34" charset="-122"/>
                          <a:cs typeface="Calibri" pitchFamily="34" charset="-120"/>
                        </a:rPr>
                        <a:t>Programming Language</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FFFFF"/>
                    </a:solidFill>
                  </a:tcPr>
                </a:tc>
                <a:tc>
                  <a:txBody>
                    <a:bodyPr/>
                    <a:lstStyle/>
                    <a:p>
                      <a:pPr marL="0" indent="0" algn="l">
                        <a:buNone/>
                      </a:pPr>
                      <a:r>
                        <a:rPr lang="en-US" sz="1300" b="1" dirty="0">
                          <a:solidFill>
                            <a:srgbClr val="16324F"/>
                          </a:solidFill>
                          <a:latin typeface="Calibri" pitchFamily="34" charset="0"/>
                          <a:ea typeface="Calibri" pitchFamily="34" charset="-122"/>
                          <a:cs typeface="Calibri" pitchFamily="34" charset="-120"/>
                        </a:rPr>
                        <a:t>Python 3</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9496">
                <a:tc>
                  <a:txBody>
                    <a:bodyPr/>
                    <a:lstStyle/>
                    <a:p>
                      <a:pPr marL="0" indent="0" algn="l">
                        <a:buNone/>
                      </a:pPr>
                      <a:r>
                        <a:rPr lang="en-US" sz="1300" dirty="0">
                          <a:solidFill>
                            <a:srgbClr val="16324F"/>
                          </a:solidFill>
                          <a:latin typeface="Calibri" pitchFamily="34" charset="0"/>
                          <a:ea typeface="Calibri" pitchFamily="34" charset="-122"/>
                          <a:cs typeface="Calibri" pitchFamily="34" charset="-120"/>
                        </a:rPr>
                        <a:t>Framework</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4F8FC"/>
                    </a:solidFill>
                  </a:tcPr>
                </a:tc>
                <a:tc>
                  <a:txBody>
                    <a:bodyPr/>
                    <a:lstStyle/>
                    <a:p>
                      <a:pPr marL="0" indent="0" algn="l">
                        <a:buNone/>
                      </a:pPr>
                      <a:r>
                        <a:rPr lang="en-US" sz="1300" b="1" dirty="0">
                          <a:solidFill>
                            <a:srgbClr val="16324F"/>
                          </a:solidFill>
                          <a:latin typeface="Calibri" pitchFamily="34" charset="0"/>
                          <a:ea typeface="Calibri" pitchFamily="34" charset="-122"/>
                          <a:cs typeface="Calibri" pitchFamily="34" charset="-120"/>
                        </a:rPr>
                        <a:t>Flask</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4F8FC"/>
                    </a:solidFill>
                  </a:tcPr>
                </a:tc>
                <a:extLst>
                  <a:ext uri="{0D108BD9-81ED-4DB2-BD59-A6C34878D82A}">
                    <a16:rowId xmlns:a16="http://schemas.microsoft.com/office/drawing/2014/main" val="10002"/>
                  </a:ext>
                </a:extLst>
              </a:tr>
              <a:tr h="539496">
                <a:tc>
                  <a:txBody>
                    <a:bodyPr/>
                    <a:lstStyle/>
                    <a:p>
                      <a:pPr marL="0" indent="0" algn="l">
                        <a:buNone/>
                      </a:pPr>
                      <a:r>
                        <a:rPr lang="en-US" sz="1300" dirty="0">
                          <a:solidFill>
                            <a:srgbClr val="16324F"/>
                          </a:solidFill>
                          <a:latin typeface="Calibri" pitchFamily="34" charset="0"/>
                          <a:ea typeface="Calibri" pitchFamily="34" charset="-122"/>
                          <a:cs typeface="Calibri" pitchFamily="34" charset="-120"/>
                        </a:rPr>
                        <a:t>Communication</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FFFFF"/>
                    </a:solidFill>
                  </a:tcPr>
                </a:tc>
                <a:tc>
                  <a:txBody>
                    <a:bodyPr/>
                    <a:lstStyle/>
                    <a:p>
                      <a:pPr marL="0" indent="0" algn="l">
                        <a:buNone/>
                      </a:pPr>
                      <a:r>
                        <a:rPr lang="en-US" sz="1300" b="1" dirty="0">
                          <a:solidFill>
                            <a:srgbClr val="16324F"/>
                          </a:solidFill>
                          <a:latin typeface="Calibri" pitchFamily="34" charset="0"/>
                          <a:ea typeface="Calibri" pitchFamily="34" charset="-122"/>
                          <a:cs typeface="Calibri" pitchFamily="34" charset="-120"/>
                        </a:rPr>
                        <a:t>HTTP</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9496">
                <a:tc>
                  <a:txBody>
                    <a:bodyPr/>
                    <a:lstStyle/>
                    <a:p>
                      <a:pPr marL="0" indent="0" algn="l">
                        <a:buNone/>
                      </a:pPr>
                      <a:r>
                        <a:rPr lang="en-US" sz="1300" dirty="0">
                          <a:solidFill>
                            <a:srgbClr val="16324F"/>
                          </a:solidFill>
                          <a:latin typeface="Calibri" pitchFamily="34" charset="0"/>
                          <a:ea typeface="Calibri" pitchFamily="34" charset="-122"/>
                          <a:cs typeface="Calibri" pitchFamily="34" charset="-120"/>
                        </a:rPr>
                        <a:t>Networking</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4F8FC"/>
                    </a:solidFill>
                  </a:tcPr>
                </a:tc>
                <a:tc>
                  <a:txBody>
                    <a:bodyPr/>
                    <a:lstStyle/>
                    <a:p>
                      <a:pPr marL="0" indent="0" algn="l">
                        <a:buNone/>
                      </a:pPr>
                      <a:r>
                        <a:rPr lang="en-US" sz="1300" b="1" dirty="0">
                          <a:solidFill>
                            <a:srgbClr val="16324F"/>
                          </a:solidFill>
                          <a:latin typeface="Calibri" pitchFamily="34" charset="0"/>
                          <a:ea typeface="Calibri" pitchFamily="34" charset="-122"/>
                          <a:cs typeface="Calibri" pitchFamily="34" charset="-120"/>
                        </a:rPr>
                        <a:t>TCP/IP</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4F8FC"/>
                    </a:solidFill>
                  </a:tcPr>
                </a:tc>
                <a:extLst>
                  <a:ext uri="{0D108BD9-81ED-4DB2-BD59-A6C34878D82A}">
                    <a16:rowId xmlns:a16="http://schemas.microsoft.com/office/drawing/2014/main" val="10004"/>
                  </a:ext>
                </a:extLst>
              </a:tr>
              <a:tr h="539496">
                <a:tc>
                  <a:txBody>
                    <a:bodyPr/>
                    <a:lstStyle/>
                    <a:p>
                      <a:pPr marL="0" indent="0" algn="l">
                        <a:buNone/>
                      </a:pPr>
                      <a:r>
                        <a:rPr lang="en-US" sz="1300" dirty="0">
                          <a:solidFill>
                            <a:srgbClr val="16324F"/>
                          </a:solidFill>
                          <a:latin typeface="Calibri" pitchFamily="34" charset="0"/>
                          <a:ea typeface="Calibri" pitchFamily="34" charset="-122"/>
                          <a:cs typeface="Calibri" pitchFamily="34" charset="-120"/>
                        </a:rPr>
                        <a:t>Client Requests</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FFFFF"/>
                    </a:solidFill>
                  </a:tcPr>
                </a:tc>
                <a:tc>
                  <a:txBody>
                    <a:bodyPr/>
                    <a:lstStyle/>
                    <a:p>
                      <a:pPr marL="0" indent="0" algn="l">
                        <a:buNone/>
                      </a:pPr>
                      <a:r>
                        <a:rPr lang="en-US" sz="1300" b="1" dirty="0">
                          <a:solidFill>
                            <a:srgbClr val="16324F"/>
                          </a:solidFill>
                          <a:latin typeface="Calibri" pitchFamily="34" charset="0"/>
                          <a:ea typeface="Calibri" pitchFamily="34" charset="-122"/>
                          <a:cs typeface="Calibri" pitchFamily="34" charset="-120"/>
                        </a:rPr>
                        <a:t>Python Requests</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9496">
                <a:tc>
                  <a:txBody>
                    <a:bodyPr/>
                    <a:lstStyle/>
                    <a:p>
                      <a:pPr marL="0" indent="0" algn="l">
                        <a:buNone/>
                      </a:pPr>
                      <a:r>
                        <a:rPr lang="en-US" sz="1300" dirty="0">
                          <a:solidFill>
                            <a:srgbClr val="16324F"/>
                          </a:solidFill>
                          <a:latin typeface="Calibri" pitchFamily="34" charset="0"/>
                          <a:ea typeface="Calibri" pitchFamily="34" charset="-122"/>
                          <a:cs typeface="Calibri" pitchFamily="34" charset="-120"/>
                        </a:rPr>
                        <a:t>Cache</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4F8FC"/>
                    </a:solidFill>
                  </a:tcPr>
                </a:tc>
                <a:tc>
                  <a:txBody>
                    <a:bodyPr/>
                    <a:lstStyle/>
                    <a:p>
                      <a:pPr marL="0" indent="0" algn="l">
                        <a:buNone/>
                      </a:pPr>
                      <a:r>
                        <a:rPr lang="en-US" sz="1300" b="1" dirty="0">
                          <a:solidFill>
                            <a:srgbClr val="16324F"/>
                          </a:solidFill>
                          <a:latin typeface="Calibri" pitchFamily="34" charset="0"/>
                          <a:ea typeface="Calibri" pitchFamily="34" charset="-122"/>
                          <a:cs typeface="Calibri" pitchFamily="34" charset="-120"/>
                        </a:rPr>
                        <a:t>Local File System</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4F8FC"/>
                    </a:solidFill>
                  </a:tcPr>
                </a:tc>
                <a:extLst>
                  <a:ext uri="{0D108BD9-81ED-4DB2-BD59-A6C34878D82A}">
                    <a16:rowId xmlns:a16="http://schemas.microsoft.com/office/drawing/2014/main" val="10006"/>
                  </a:ext>
                </a:extLst>
              </a:tr>
              <a:tr h="539496">
                <a:tc>
                  <a:txBody>
                    <a:bodyPr/>
                    <a:lstStyle/>
                    <a:p>
                      <a:pPr marL="0" indent="0" algn="l">
                        <a:buNone/>
                      </a:pPr>
                      <a:r>
                        <a:rPr lang="en-US" sz="1300" dirty="0">
                          <a:solidFill>
                            <a:srgbClr val="16324F"/>
                          </a:solidFill>
                          <a:latin typeface="Calibri" pitchFamily="34" charset="0"/>
                          <a:ea typeface="Calibri" pitchFamily="34" charset="-122"/>
                          <a:cs typeface="Calibri" pitchFamily="34" charset="-120"/>
                        </a:rPr>
                        <a:t>Dataset</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FFFFF"/>
                    </a:solidFill>
                  </a:tcPr>
                </a:tc>
                <a:tc>
                  <a:txBody>
                    <a:bodyPr/>
                    <a:lstStyle/>
                    <a:p>
                      <a:pPr marL="0" indent="0" algn="l">
                        <a:buNone/>
                      </a:pPr>
                      <a:r>
                        <a:rPr lang="en-US" sz="1300" b="1" dirty="0">
                          <a:solidFill>
                            <a:srgbClr val="16324F"/>
                          </a:solidFill>
                          <a:latin typeface="Calibri" pitchFamily="34" charset="0"/>
                          <a:ea typeface="Calibri" pitchFamily="34" charset="-122"/>
                          <a:cs typeface="Calibri" pitchFamily="34" charset="-120"/>
                        </a:rPr>
                        <a:t>Image Repository</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39496">
                <a:tc>
                  <a:txBody>
                    <a:bodyPr/>
                    <a:lstStyle/>
                    <a:p>
                      <a:pPr marL="0" indent="0" algn="l">
                        <a:buNone/>
                      </a:pPr>
                      <a:r>
                        <a:rPr lang="en-US" sz="1300" dirty="0">
                          <a:solidFill>
                            <a:srgbClr val="16324F"/>
                          </a:solidFill>
                          <a:latin typeface="Calibri" pitchFamily="34" charset="0"/>
                          <a:ea typeface="Calibri" pitchFamily="34" charset="-122"/>
                          <a:cs typeface="Calibri" pitchFamily="34" charset="-120"/>
                        </a:rPr>
                        <a:t>IDE</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4F8FC"/>
                    </a:solidFill>
                  </a:tcPr>
                </a:tc>
                <a:tc>
                  <a:txBody>
                    <a:bodyPr/>
                    <a:lstStyle/>
                    <a:p>
                      <a:pPr marL="0" indent="0" algn="l">
                        <a:buNone/>
                      </a:pPr>
                      <a:r>
                        <a:rPr lang="en-US" sz="1300" b="1" dirty="0">
                          <a:solidFill>
                            <a:srgbClr val="16324F"/>
                          </a:solidFill>
                          <a:latin typeface="Calibri" pitchFamily="34" charset="0"/>
                          <a:ea typeface="Calibri" pitchFamily="34" charset="-122"/>
                          <a:cs typeface="Calibri" pitchFamily="34" charset="-120"/>
                        </a:rPr>
                        <a:t>Visual Studio Code</a:t>
                      </a:r>
                      <a:endParaRPr lang="en-US" sz="1300" dirty="0">
                        <a:latin typeface="Calibri" charset="0"/>
                        <a:ea typeface="Calibri" charset="0"/>
                        <a:cs typeface="Calibri" charset="0"/>
                      </a:endParaRPr>
                    </a:p>
                  </a:txBody>
                  <a:tcPr anchor="ctr">
                    <a:lnL w="12700" cap="flat" cmpd="sng" algn="ctr">
                      <a:solidFill>
                        <a:srgbClr val="DCE6F0"/>
                      </a:solidFill>
                      <a:prstDash val="solid"/>
                      <a:round/>
                      <a:headEnd type="none" w="med" len="med"/>
                      <a:tailEnd type="none" w="med" len="med"/>
                    </a:lnL>
                    <a:lnR w="12700" cap="flat" cmpd="sng" algn="ctr">
                      <a:solidFill>
                        <a:srgbClr val="DCE6F0"/>
                      </a:solidFill>
                      <a:prstDash val="solid"/>
                      <a:round/>
                      <a:headEnd type="none" w="med" len="med"/>
                      <a:tailEnd type="none" w="med" len="med"/>
                    </a:lnR>
                    <a:lnT w="12700" cap="flat" cmpd="sng" algn="ctr">
                      <a:solidFill>
                        <a:srgbClr val="DCE6F0"/>
                      </a:solidFill>
                      <a:prstDash val="solid"/>
                      <a:round/>
                      <a:headEnd type="none" w="med" len="med"/>
                      <a:tailEnd type="none" w="med" len="med"/>
                    </a:lnT>
                    <a:lnB w="12700" cap="flat" cmpd="sng" algn="ctr">
                      <a:solidFill>
                        <a:srgbClr val="DCE6F0"/>
                      </a:solidFill>
                      <a:prstDash val="solid"/>
                      <a:round/>
                      <a:headEnd type="none" w="med" len="med"/>
                      <a:tailEnd type="none" w="med" len="med"/>
                    </a:lnB>
                    <a:solidFill>
                      <a:srgbClr val="F4F8FC"/>
                    </a:solidFill>
                  </a:tcPr>
                </a:tc>
                <a:extLst>
                  <a:ext uri="{0D108BD9-81ED-4DB2-BD59-A6C34878D82A}">
                    <a16:rowId xmlns:a16="http://schemas.microsoft.com/office/drawing/2014/main" val="10008"/>
                  </a:ext>
                </a:extLst>
              </a:tr>
            </a:tbl>
          </a:graphicData>
        </a:graphic>
      </p:graphicFrame>
      <p:sp>
        <p:nvSpPr>
          <p:cNvPr id="4" name="Shape 1"/>
          <p:cNvSpPr/>
          <p:nvPr/>
        </p:nvSpPr>
        <p:spPr>
          <a:xfrm>
            <a:off x="8686800" y="1234440"/>
            <a:ext cx="2971800" cy="4846320"/>
          </a:xfrm>
          <a:prstGeom prst="roundRect">
            <a:avLst>
              <a:gd name="adj" fmla="val 3692"/>
            </a:avLst>
          </a:prstGeom>
          <a:solidFill>
            <a:srgbClr val="0B3D91"/>
          </a:solidFill>
          <a:ln/>
        </p:spPr>
      </p:sp>
      <p:sp>
        <p:nvSpPr>
          <p:cNvPr id="5" name="Text 2"/>
          <p:cNvSpPr/>
          <p:nvPr/>
        </p:nvSpPr>
        <p:spPr>
          <a:xfrm>
            <a:off x="8915400" y="1417320"/>
            <a:ext cx="256032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Stack Summary</a:t>
            </a:r>
            <a:endParaRPr lang="en-US" sz="1400" dirty="0"/>
          </a:p>
        </p:txBody>
      </p:sp>
      <p:sp>
        <p:nvSpPr>
          <p:cNvPr id="6" name="Shape 3"/>
          <p:cNvSpPr/>
          <p:nvPr/>
        </p:nvSpPr>
        <p:spPr>
          <a:xfrm>
            <a:off x="9052560" y="1965960"/>
            <a:ext cx="640080" cy="640080"/>
          </a:xfrm>
          <a:prstGeom prst="ellipse">
            <a:avLst/>
          </a:prstGeom>
          <a:solidFill>
            <a:srgbClr val="00B4D8"/>
          </a:solidFill>
          <a:ln/>
        </p:spPr>
      </p:sp>
      <p:pic>
        <p:nvPicPr>
          <p:cNvPr id="7" name="Image 0" descr="/home/claude/pptx_build/icons/cogs_0B3D91.png"/>
          <p:cNvPicPr>
            <a:picLocks noChangeAspect="1"/>
          </p:cNvPicPr>
          <p:nvPr/>
        </p:nvPicPr>
        <p:blipFill>
          <a:blip r:embed="rId3"/>
          <a:stretch>
            <a:fillRect/>
          </a:stretch>
        </p:blipFill>
        <p:spPr>
          <a:xfrm>
            <a:off x="9129370" y="2042770"/>
            <a:ext cx="486461" cy="486461"/>
          </a:xfrm>
          <a:prstGeom prst="rect">
            <a:avLst/>
          </a:prstGeom>
        </p:spPr>
      </p:pic>
      <p:sp>
        <p:nvSpPr>
          <p:cNvPr id="8" name="Text 4"/>
          <p:cNvSpPr/>
          <p:nvPr/>
        </p:nvSpPr>
        <p:spPr>
          <a:xfrm>
            <a:off x="8869680" y="2624328"/>
            <a:ext cx="100584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Python 3</a:t>
            </a:r>
            <a:endParaRPr lang="en-US" sz="1000" dirty="0"/>
          </a:p>
        </p:txBody>
      </p:sp>
      <p:sp>
        <p:nvSpPr>
          <p:cNvPr id="9" name="Shape 5"/>
          <p:cNvSpPr/>
          <p:nvPr/>
        </p:nvSpPr>
        <p:spPr>
          <a:xfrm>
            <a:off x="9052560" y="3017520"/>
            <a:ext cx="640080" cy="640080"/>
          </a:xfrm>
          <a:prstGeom prst="ellipse">
            <a:avLst/>
          </a:prstGeom>
          <a:solidFill>
            <a:srgbClr val="00B4D8"/>
          </a:solidFill>
          <a:ln/>
        </p:spPr>
      </p:sp>
      <p:pic>
        <p:nvPicPr>
          <p:cNvPr id="3" name="Image 1" descr="/home/claude/pptx_build/icons/layers_0B3D91.png"/>
          <p:cNvPicPr>
            <a:picLocks noChangeAspect="1"/>
          </p:cNvPicPr>
          <p:nvPr/>
        </p:nvPicPr>
        <p:blipFill>
          <a:blip r:embed="rId4"/>
          <a:stretch>
            <a:fillRect/>
          </a:stretch>
        </p:blipFill>
        <p:spPr>
          <a:xfrm>
            <a:off x="9129370" y="3094330"/>
            <a:ext cx="486461" cy="486461"/>
          </a:xfrm>
          <a:prstGeom prst="rect">
            <a:avLst/>
          </a:prstGeom>
        </p:spPr>
      </p:pic>
      <p:sp>
        <p:nvSpPr>
          <p:cNvPr id="11" name="Text 6"/>
          <p:cNvSpPr/>
          <p:nvPr/>
        </p:nvSpPr>
        <p:spPr>
          <a:xfrm>
            <a:off x="8869680" y="3675888"/>
            <a:ext cx="100584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Flask</a:t>
            </a:r>
            <a:endParaRPr lang="en-US" sz="1000" dirty="0"/>
          </a:p>
        </p:txBody>
      </p:sp>
      <p:sp>
        <p:nvSpPr>
          <p:cNvPr id="12" name="Shape 7"/>
          <p:cNvSpPr/>
          <p:nvPr/>
        </p:nvSpPr>
        <p:spPr>
          <a:xfrm>
            <a:off x="9052560" y="4069080"/>
            <a:ext cx="640080" cy="640080"/>
          </a:xfrm>
          <a:prstGeom prst="ellipse">
            <a:avLst/>
          </a:prstGeom>
          <a:solidFill>
            <a:srgbClr val="00B4D8"/>
          </a:solidFill>
          <a:ln/>
        </p:spPr>
      </p:sp>
      <p:pic>
        <p:nvPicPr>
          <p:cNvPr id="13" name="Image 2" descr="/home/claude/pptx_build/icons/http_0B3D91.png"/>
          <p:cNvPicPr>
            <a:picLocks noChangeAspect="1"/>
          </p:cNvPicPr>
          <p:nvPr/>
        </p:nvPicPr>
        <p:blipFill>
          <a:blip r:embed="rId5"/>
          <a:stretch>
            <a:fillRect/>
          </a:stretch>
        </p:blipFill>
        <p:spPr>
          <a:xfrm>
            <a:off x="9129370" y="4145890"/>
            <a:ext cx="486461" cy="486461"/>
          </a:xfrm>
          <a:prstGeom prst="rect">
            <a:avLst/>
          </a:prstGeom>
        </p:spPr>
      </p:pic>
      <p:sp>
        <p:nvSpPr>
          <p:cNvPr id="14" name="Text 8"/>
          <p:cNvSpPr/>
          <p:nvPr/>
        </p:nvSpPr>
        <p:spPr>
          <a:xfrm>
            <a:off x="8869680" y="4727448"/>
            <a:ext cx="100584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HTTP/TCP</a:t>
            </a:r>
            <a:endParaRPr lang="en-US" sz="1000" dirty="0"/>
          </a:p>
        </p:txBody>
      </p:sp>
      <p:sp>
        <p:nvSpPr>
          <p:cNvPr id="15" name="Shape 9"/>
          <p:cNvSpPr/>
          <p:nvPr/>
        </p:nvSpPr>
        <p:spPr>
          <a:xfrm>
            <a:off x="9052560" y="5120640"/>
            <a:ext cx="640080" cy="640080"/>
          </a:xfrm>
          <a:prstGeom prst="ellipse">
            <a:avLst/>
          </a:prstGeom>
          <a:solidFill>
            <a:srgbClr val="00B4D8"/>
          </a:solidFill>
          <a:ln/>
        </p:spPr>
      </p:sp>
      <p:pic>
        <p:nvPicPr>
          <p:cNvPr id="16" name="Image 3" descr="/home/claude/pptx_build/icons/database_0B3D91.png"/>
          <p:cNvPicPr>
            <a:picLocks noChangeAspect="1"/>
          </p:cNvPicPr>
          <p:nvPr/>
        </p:nvPicPr>
        <p:blipFill>
          <a:blip r:embed="rId6"/>
          <a:stretch>
            <a:fillRect/>
          </a:stretch>
        </p:blipFill>
        <p:spPr>
          <a:xfrm>
            <a:off x="9129370" y="5197450"/>
            <a:ext cx="486461" cy="486461"/>
          </a:xfrm>
          <a:prstGeom prst="rect">
            <a:avLst/>
          </a:prstGeom>
        </p:spPr>
      </p:pic>
      <p:sp>
        <p:nvSpPr>
          <p:cNvPr id="17" name="Text 10"/>
          <p:cNvSpPr/>
          <p:nvPr/>
        </p:nvSpPr>
        <p:spPr>
          <a:xfrm>
            <a:off x="8869680" y="5779008"/>
            <a:ext cx="100584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File Cache</a:t>
            </a:r>
            <a:endParaRPr lang="en-US" sz="1000" dirty="0"/>
          </a:p>
        </p:txBody>
      </p:sp>
      <p:sp>
        <p:nvSpPr>
          <p:cNvPr id="19" name="Text 12"/>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6B8CA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b="1" dirty="0">
                <a:solidFill>
                  <a:srgbClr val="0B3D91"/>
                </a:solidFill>
                <a:latin typeface="Cambria" pitchFamily="34" charset="0"/>
                <a:ea typeface="Cambria" pitchFamily="34" charset="-122"/>
                <a:cs typeface="Cambria" pitchFamily="34" charset="-120"/>
              </a:rPr>
              <a:t>Advantages</a:t>
            </a:r>
            <a:endParaRPr lang="en-US" sz="3000" dirty="0"/>
          </a:p>
        </p:txBody>
      </p:sp>
      <p:sp>
        <p:nvSpPr>
          <p:cNvPr id="3" name="Shape 1"/>
          <p:cNvSpPr/>
          <p:nvPr/>
        </p:nvSpPr>
        <p:spPr>
          <a:xfrm>
            <a:off x="548640" y="1234440"/>
            <a:ext cx="2606040" cy="2148840"/>
          </a:xfrm>
          <a:prstGeom prst="roundRect">
            <a:avLst>
              <a:gd name="adj" fmla="val 5106"/>
            </a:avLst>
          </a:prstGeom>
          <a:solidFill>
            <a:srgbClr val="0B3D91"/>
          </a:solidFill>
          <a:ln/>
          <a:effectLst>
            <a:outerShdw blurRad="63500" dist="25400" dir="5400000" algn="bl" rotWithShape="0">
              <a:srgbClr val="9AB4CC">
                <a:alpha val="30000"/>
              </a:srgbClr>
            </a:outerShdw>
          </a:effectLst>
        </p:spPr>
      </p:sp>
      <p:sp>
        <p:nvSpPr>
          <p:cNvPr id="4" name="Shape 2"/>
          <p:cNvSpPr/>
          <p:nvPr/>
        </p:nvSpPr>
        <p:spPr>
          <a:xfrm>
            <a:off x="1463040" y="1508760"/>
            <a:ext cx="777240" cy="777240"/>
          </a:xfrm>
          <a:prstGeom prst="ellipse">
            <a:avLst/>
          </a:prstGeom>
          <a:solidFill>
            <a:srgbClr val="00B4D8"/>
          </a:solidFill>
          <a:ln/>
        </p:spPr>
      </p:sp>
      <p:pic>
        <p:nvPicPr>
          <p:cNvPr id="5" name="Image 0" descr="/home/claude/pptx_build/icons/bolt_0B3D91.png"/>
          <p:cNvPicPr>
            <a:picLocks noChangeAspect="1"/>
          </p:cNvPicPr>
          <p:nvPr/>
        </p:nvPicPr>
        <p:blipFill>
          <a:blip r:embed="rId3"/>
          <a:stretch>
            <a:fillRect/>
          </a:stretch>
        </p:blipFill>
        <p:spPr>
          <a:xfrm>
            <a:off x="1556309" y="1602029"/>
            <a:ext cx="590702" cy="590702"/>
          </a:xfrm>
          <a:prstGeom prst="rect">
            <a:avLst/>
          </a:prstGeom>
        </p:spPr>
      </p:pic>
      <p:sp>
        <p:nvSpPr>
          <p:cNvPr id="6" name="Text 3"/>
          <p:cNvSpPr/>
          <p:nvPr/>
        </p:nvSpPr>
        <p:spPr>
          <a:xfrm>
            <a:off x="685800" y="2468880"/>
            <a:ext cx="2331720" cy="777240"/>
          </a:xfrm>
          <a:prstGeom prst="rect">
            <a:avLst/>
          </a:prstGeom>
          <a:noFill/>
          <a:ln/>
        </p:spPr>
        <p:txBody>
          <a:bodyPr wrap="square"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Reduced Response Time</a:t>
            </a:r>
            <a:endParaRPr lang="en-US" sz="1300" dirty="0"/>
          </a:p>
        </p:txBody>
      </p:sp>
      <p:sp>
        <p:nvSpPr>
          <p:cNvPr id="7" name="Shape 4"/>
          <p:cNvSpPr/>
          <p:nvPr/>
        </p:nvSpPr>
        <p:spPr>
          <a:xfrm>
            <a:off x="3337560" y="1234440"/>
            <a:ext cx="2606040" cy="2148840"/>
          </a:xfrm>
          <a:prstGeom prst="roundRect">
            <a:avLst>
              <a:gd name="adj" fmla="val 5106"/>
            </a:avLst>
          </a:prstGeom>
          <a:solidFill>
            <a:srgbClr val="2E86C1"/>
          </a:solidFill>
          <a:ln/>
          <a:effectLst>
            <a:outerShdw blurRad="63500" dist="25400" dir="5400000" algn="bl" rotWithShape="0">
              <a:srgbClr val="9AB4CC">
                <a:alpha val="30000"/>
              </a:srgbClr>
            </a:outerShdw>
          </a:effectLst>
        </p:spPr>
      </p:sp>
      <p:sp>
        <p:nvSpPr>
          <p:cNvPr id="8" name="Shape 5"/>
          <p:cNvSpPr/>
          <p:nvPr/>
        </p:nvSpPr>
        <p:spPr>
          <a:xfrm>
            <a:off x="4251960" y="1508760"/>
            <a:ext cx="777240" cy="777240"/>
          </a:xfrm>
          <a:prstGeom prst="ellipse">
            <a:avLst/>
          </a:prstGeom>
          <a:solidFill>
            <a:srgbClr val="00B4D8"/>
          </a:solidFill>
          <a:ln/>
        </p:spPr>
      </p:sp>
      <p:pic>
        <p:nvPicPr>
          <p:cNvPr id="9" name="Image 1" descr="/home/claude/pptx_build/icons/gauge_0B3D91.png"/>
          <p:cNvPicPr>
            <a:picLocks noChangeAspect="1"/>
          </p:cNvPicPr>
          <p:nvPr/>
        </p:nvPicPr>
        <p:blipFill>
          <a:blip r:embed="rId4"/>
          <a:stretch>
            <a:fillRect/>
          </a:stretch>
        </p:blipFill>
        <p:spPr>
          <a:xfrm>
            <a:off x="4345229" y="1602029"/>
            <a:ext cx="590702" cy="590702"/>
          </a:xfrm>
          <a:prstGeom prst="rect">
            <a:avLst/>
          </a:prstGeom>
        </p:spPr>
      </p:pic>
      <p:sp>
        <p:nvSpPr>
          <p:cNvPr id="10" name="Text 6"/>
          <p:cNvSpPr/>
          <p:nvPr/>
        </p:nvSpPr>
        <p:spPr>
          <a:xfrm>
            <a:off x="3474720" y="2468880"/>
            <a:ext cx="2331720" cy="777240"/>
          </a:xfrm>
          <a:prstGeom prst="rect">
            <a:avLst/>
          </a:prstGeom>
          <a:noFill/>
          <a:ln/>
        </p:spPr>
        <p:txBody>
          <a:bodyPr wrap="square"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Lower Global Server Workload</a:t>
            </a:r>
            <a:endParaRPr lang="en-US" sz="1300" dirty="0"/>
          </a:p>
        </p:txBody>
      </p:sp>
      <p:sp>
        <p:nvSpPr>
          <p:cNvPr id="11" name="Shape 7"/>
          <p:cNvSpPr/>
          <p:nvPr/>
        </p:nvSpPr>
        <p:spPr>
          <a:xfrm>
            <a:off x="6126480" y="1234440"/>
            <a:ext cx="2606040" cy="2148840"/>
          </a:xfrm>
          <a:prstGeom prst="roundRect">
            <a:avLst>
              <a:gd name="adj" fmla="val 5106"/>
            </a:avLst>
          </a:prstGeom>
          <a:solidFill>
            <a:srgbClr val="0B3D91"/>
          </a:solidFill>
          <a:ln/>
          <a:effectLst>
            <a:outerShdw blurRad="63500" dist="25400" dir="5400000" algn="bl" rotWithShape="0">
              <a:srgbClr val="9AB4CC">
                <a:alpha val="30000"/>
              </a:srgbClr>
            </a:outerShdw>
          </a:effectLst>
        </p:spPr>
      </p:sp>
      <p:sp>
        <p:nvSpPr>
          <p:cNvPr id="12" name="Shape 8"/>
          <p:cNvSpPr/>
          <p:nvPr/>
        </p:nvSpPr>
        <p:spPr>
          <a:xfrm>
            <a:off x="7040880" y="1508760"/>
            <a:ext cx="777240" cy="777240"/>
          </a:xfrm>
          <a:prstGeom prst="ellipse">
            <a:avLst/>
          </a:prstGeom>
          <a:solidFill>
            <a:srgbClr val="00B4D8"/>
          </a:solidFill>
          <a:ln/>
        </p:spPr>
      </p:sp>
      <p:pic>
        <p:nvPicPr>
          <p:cNvPr id="13" name="Image 2" descr="/home/claude/pptx_build/icons/network_0B3D91.png"/>
          <p:cNvPicPr>
            <a:picLocks noChangeAspect="1"/>
          </p:cNvPicPr>
          <p:nvPr/>
        </p:nvPicPr>
        <p:blipFill>
          <a:blip r:embed="rId5"/>
          <a:stretch>
            <a:fillRect/>
          </a:stretch>
        </p:blipFill>
        <p:spPr>
          <a:xfrm>
            <a:off x="7134149" y="1602029"/>
            <a:ext cx="590702" cy="590702"/>
          </a:xfrm>
          <a:prstGeom prst="rect">
            <a:avLst/>
          </a:prstGeom>
        </p:spPr>
      </p:pic>
      <p:sp>
        <p:nvSpPr>
          <p:cNvPr id="14" name="Text 9"/>
          <p:cNvSpPr/>
          <p:nvPr/>
        </p:nvSpPr>
        <p:spPr>
          <a:xfrm>
            <a:off x="6263640" y="2468880"/>
            <a:ext cx="2331720" cy="777240"/>
          </a:xfrm>
          <a:prstGeom prst="rect">
            <a:avLst/>
          </a:prstGeom>
          <a:noFill/>
          <a:ln/>
        </p:spPr>
        <p:txBody>
          <a:bodyPr wrap="square"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Distributed Content Delivery</a:t>
            </a:r>
            <a:endParaRPr lang="en-US" sz="1300" dirty="0"/>
          </a:p>
        </p:txBody>
      </p:sp>
      <p:sp>
        <p:nvSpPr>
          <p:cNvPr id="15" name="Shape 10"/>
          <p:cNvSpPr/>
          <p:nvPr/>
        </p:nvSpPr>
        <p:spPr>
          <a:xfrm>
            <a:off x="8915400" y="1234440"/>
            <a:ext cx="2606040" cy="2148840"/>
          </a:xfrm>
          <a:prstGeom prst="roundRect">
            <a:avLst>
              <a:gd name="adj" fmla="val 5106"/>
            </a:avLst>
          </a:prstGeom>
          <a:solidFill>
            <a:srgbClr val="2E86C1"/>
          </a:solidFill>
          <a:ln/>
          <a:effectLst>
            <a:outerShdw blurRad="63500" dist="25400" dir="5400000" algn="bl" rotWithShape="0">
              <a:srgbClr val="9AB4CC">
                <a:alpha val="30000"/>
              </a:srgbClr>
            </a:outerShdw>
          </a:effectLst>
        </p:spPr>
      </p:sp>
      <p:sp>
        <p:nvSpPr>
          <p:cNvPr id="16" name="Shape 11"/>
          <p:cNvSpPr/>
          <p:nvPr/>
        </p:nvSpPr>
        <p:spPr>
          <a:xfrm>
            <a:off x="9829800" y="1508760"/>
            <a:ext cx="777240" cy="777240"/>
          </a:xfrm>
          <a:prstGeom prst="ellipse">
            <a:avLst/>
          </a:prstGeom>
          <a:solidFill>
            <a:srgbClr val="00B4D8"/>
          </a:solidFill>
          <a:ln/>
        </p:spPr>
      </p:sp>
      <p:pic>
        <p:nvPicPr>
          <p:cNvPr id="17" name="Image 3" descr="/home/claude/pptx_build/icons/layers_0B3D91.png"/>
          <p:cNvPicPr>
            <a:picLocks noChangeAspect="1"/>
          </p:cNvPicPr>
          <p:nvPr/>
        </p:nvPicPr>
        <p:blipFill>
          <a:blip r:embed="rId6"/>
          <a:stretch>
            <a:fillRect/>
          </a:stretch>
        </p:blipFill>
        <p:spPr>
          <a:xfrm>
            <a:off x="9923069" y="1602029"/>
            <a:ext cx="590702" cy="590702"/>
          </a:xfrm>
          <a:prstGeom prst="rect">
            <a:avLst/>
          </a:prstGeom>
        </p:spPr>
      </p:pic>
      <p:sp>
        <p:nvSpPr>
          <p:cNvPr id="18" name="Text 12"/>
          <p:cNvSpPr/>
          <p:nvPr/>
        </p:nvSpPr>
        <p:spPr>
          <a:xfrm>
            <a:off x="9052560" y="2468880"/>
            <a:ext cx="2331720" cy="777240"/>
          </a:xfrm>
          <a:prstGeom prst="rect">
            <a:avLst/>
          </a:prstGeom>
          <a:noFill/>
          <a:ln/>
        </p:spPr>
        <p:txBody>
          <a:bodyPr wrap="square"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Lightweight Implementation</a:t>
            </a:r>
            <a:endParaRPr lang="en-US" sz="1300" dirty="0"/>
          </a:p>
        </p:txBody>
      </p:sp>
      <p:sp>
        <p:nvSpPr>
          <p:cNvPr id="19" name="Shape 13"/>
          <p:cNvSpPr/>
          <p:nvPr/>
        </p:nvSpPr>
        <p:spPr>
          <a:xfrm>
            <a:off x="548640" y="3611880"/>
            <a:ext cx="2606040" cy="2148840"/>
          </a:xfrm>
          <a:prstGeom prst="roundRect">
            <a:avLst>
              <a:gd name="adj" fmla="val 5106"/>
            </a:avLst>
          </a:prstGeom>
          <a:solidFill>
            <a:srgbClr val="2E86C1"/>
          </a:solidFill>
          <a:ln/>
          <a:effectLst>
            <a:outerShdw blurRad="63500" dist="25400" dir="5400000" algn="bl" rotWithShape="0">
              <a:srgbClr val="9AB4CC">
                <a:alpha val="30000"/>
              </a:srgbClr>
            </a:outerShdw>
          </a:effectLst>
        </p:spPr>
      </p:sp>
      <p:sp>
        <p:nvSpPr>
          <p:cNvPr id="20" name="Shape 14"/>
          <p:cNvSpPr/>
          <p:nvPr/>
        </p:nvSpPr>
        <p:spPr>
          <a:xfrm>
            <a:off x="1463040" y="3886200"/>
            <a:ext cx="777240" cy="777240"/>
          </a:xfrm>
          <a:prstGeom prst="ellipse">
            <a:avLst/>
          </a:prstGeom>
          <a:solidFill>
            <a:srgbClr val="00B4D8"/>
          </a:solidFill>
          <a:ln/>
        </p:spPr>
      </p:sp>
      <p:pic>
        <p:nvPicPr>
          <p:cNvPr id="21" name="Image 4" descr="/home/claude/pptx_build/icons/users_0B3D91.png"/>
          <p:cNvPicPr>
            <a:picLocks noChangeAspect="1"/>
          </p:cNvPicPr>
          <p:nvPr/>
        </p:nvPicPr>
        <p:blipFill>
          <a:blip r:embed="rId7"/>
          <a:stretch>
            <a:fillRect/>
          </a:stretch>
        </p:blipFill>
        <p:spPr>
          <a:xfrm>
            <a:off x="1556309" y="3979469"/>
            <a:ext cx="590702" cy="590702"/>
          </a:xfrm>
          <a:prstGeom prst="rect">
            <a:avLst/>
          </a:prstGeom>
        </p:spPr>
      </p:pic>
      <p:sp>
        <p:nvSpPr>
          <p:cNvPr id="22" name="Text 15"/>
          <p:cNvSpPr/>
          <p:nvPr/>
        </p:nvSpPr>
        <p:spPr>
          <a:xfrm>
            <a:off x="685800" y="4846320"/>
            <a:ext cx="2331720" cy="777240"/>
          </a:xfrm>
          <a:prstGeom prst="rect">
            <a:avLst/>
          </a:prstGeom>
          <a:noFill/>
          <a:ln/>
        </p:spPr>
        <p:txBody>
          <a:bodyPr wrap="square"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Supports Multiple Clients</a:t>
            </a:r>
            <a:endParaRPr lang="en-US" sz="1300" dirty="0"/>
          </a:p>
        </p:txBody>
      </p:sp>
      <p:sp>
        <p:nvSpPr>
          <p:cNvPr id="23" name="Shape 16"/>
          <p:cNvSpPr/>
          <p:nvPr/>
        </p:nvSpPr>
        <p:spPr>
          <a:xfrm>
            <a:off x="3337560" y="3611880"/>
            <a:ext cx="2606040" cy="2148840"/>
          </a:xfrm>
          <a:prstGeom prst="roundRect">
            <a:avLst>
              <a:gd name="adj" fmla="val 5106"/>
            </a:avLst>
          </a:prstGeom>
          <a:solidFill>
            <a:srgbClr val="0B3D91"/>
          </a:solidFill>
          <a:ln/>
          <a:effectLst>
            <a:outerShdw blurRad="63500" dist="25400" dir="5400000" algn="bl" rotWithShape="0">
              <a:srgbClr val="9AB4CC">
                <a:alpha val="30000"/>
              </a:srgbClr>
            </a:outerShdw>
          </a:effectLst>
        </p:spPr>
      </p:sp>
      <p:sp>
        <p:nvSpPr>
          <p:cNvPr id="24" name="Shape 17"/>
          <p:cNvSpPr/>
          <p:nvPr/>
        </p:nvSpPr>
        <p:spPr>
          <a:xfrm>
            <a:off x="4251960" y="3886200"/>
            <a:ext cx="777240" cy="777240"/>
          </a:xfrm>
          <a:prstGeom prst="ellipse">
            <a:avLst/>
          </a:prstGeom>
          <a:solidFill>
            <a:srgbClr val="00B4D8"/>
          </a:solidFill>
          <a:ln/>
        </p:spPr>
      </p:sp>
      <p:pic>
        <p:nvPicPr>
          <p:cNvPr id="25" name="Image 5" descr="/home/claude/pptx_build/icons/sitemap_0B3D91.png"/>
          <p:cNvPicPr>
            <a:picLocks noChangeAspect="1"/>
          </p:cNvPicPr>
          <p:nvPr/>
        </p:nvPicPr>
        <p:blipFill>
          <a:blip r:embed="rId8"/>
          <a:stretch>
            <a:fillRect/>
          </a:stretch>
        </p:blipFill>
        <p:spPr>
          <a:xfrm>
            <a:off x="4345229" y="3979469"/>
            <a:ext cx="590702" cy="590702"/>
          </a:xfrm>
          <a:prstGeom prst="rect">
            <a:avLst/>
          </a:prstGeom>
        </p:spPr>
      </p:pic>
      <p:sp>
        <p:nvSpPr>
          <p:cNvPr id="26" name="Text 18"/>
          <p:cNvSpPr/>
          <p:nvPr/>
        </p:nvSpPr>
        <p:spPr>
          <a:xfrm>
            <a:off x="3474720" y="4846320"/>
            <a:ext cx="2331720" cy="777240"/>
          </a:xfrm>
          <a:prstGeom prst="rect">
            <a:avLst/>
          </a:prstGeom>
          <a:noFill/>
          <a:ln/>
        </p:spPr>
        <p:txBody>
          <a:bodyPr wrap="square"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Modular Architecture</a:t>
            </a:r>
            <a:endParaRPr lang="en-US" sz="1300" dirty="0"/>
          </a:p>
        </p:txBody>
      </p:sp>
      <p:sp>
        <p:nvSpPr>
          <p:cNvPr id="27" name="Shape 19"/>
          <p:cNvSpPr/>
          <p:nvPr/>
        </p:nvSpPr>
        <p:spPr>
          <a:xfrm>
            <a:off x="6126480" y="3611880"/>
            <a:ext cx="2606040" cy="2148840"/>
          </a:xfrm>
          <a:prstGeom prst="roundRect">
            <a:avLst>
              <a:gd name="adj" fmla="val 5106"/>
            </a:avLst>
          </a:prstGeom>
          <a:solidFill>
            <a:srgbClr val="2E86C1"/>
          </a:solidFill>
          <a:ln/>
          <a:effectLst>
            <a:outerShdw blurRad="63500" dist="25400" dir="5400000" algn="bl" rotWithShape="0">
              <a:srgbClr val="9AB4CC">
                <a:alpha val="30000"/>
              </a:srgbClr>
            </a:outerShdw>
          </a:effectLst>
        </p:spPr>
      </p:sp>
      <p:sp>
        <p:nvSpPr>
          <p:cNvPr id="28" name="Shape 20"/>
          <p:cNvSpPr/>
          <p:nvPr/>
        </p:nvSpPr>
        <p:spPr>
          <a:xfrm>
            <a:off x="7040880" y="3886200"/>
            <a:ext cx="777240" cy="777240"/>
          </a:xfrm>
          <a:prstGeom prst="ellipse">
            <a:avLst/>
          </a:prstGeom>
          <a:solidFill>
            <a:srgbClr val="00B4D8"/>
          </a:solidFill>
          <a:ln/>
        </p:spPr>
      </p:sp>
      <p:pic>
        <p:nvPicPr>
          <p:cNvPr id="29" name="Image 6" descr="/home/claude/pptx_build/icons/chart_0B3D91.png"/>
          <p:cNvPicPr>
            <a:picLocks noChangeAspect="1"/>
          </p:cNvPicPr>
          <p:nvPr/>
        </p:nvPicPr>
        <p:blipFill>
          <a:blip r:embed="rId9"/>
          <a:stretch>
            <a:fillRect/>
          </a:stretch>
        </p:blipFill>
        <p:spPr>
          <a:xfrm>
            <a:off x="7134149" y="3979469"/>
            <a:ext cx="590702" cy="590702"/>
          </a:xfrm>
          <a:prstGeom prst="rect">
            <a:avLst/>
          </a:prstGeom>
        </p:spPr>
      </p:pic>
      <p:sp>
        <p:nvSpPr>
          <p:cNvPr id="30" name="Text 21"/>
          <p:cNvSpPr/>
          <p:nvPr/>
        </p:nvSpPr>
        <p:spPr>
          <a:xfrm>
            <a:off x="6263640" y="4846320"/>
            <a:ext cx="2331720" cy="777240"/>
          </a:xfrm>
          <a:prstGeom prst="rect">
            <a:avLst/>
          </a:prstGeom>
          <a:noFill/>
          <a:ln/>
        </p:spPr>
        <p:txBody>
          <a:bodyPr wrap="square"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Easy Scalability</a:t>
            </a:r>
            <a:endParaRPr lang="en-US" sz="1300" dirty="0"/>
          </a:p>
        </p:txBody>
      </p:sp>
      <p:sp>
        <p:nvSpPr>
          <p:cNvPr id="31" name="Shape 22"/>
          <p:cNvSpPr/>
          <p:nvPr/>
        </p:nvSpPr>
        <p:spPr>
          <a:xfrm>
            <a:off x="8915400" y="3611880"/>
            <a:ext cx="2606040" cy="2148840"/>
          </a:xfrm>
          <a:prstGeom prst="roundRect">
            <a:avLst>
              <a:gd name="adj" fmla="val 5106"/>
            </a:avLst>
          </a:prstGeom>
          <a:solidFill>
            <a:srgbClr val="0B3D91"/>
          </a:solidFill>
          <a:ln/>
          <a:effectLst>
            <a:outerShdw blurRad="63500" dist="25400" dir="5400000" algn="bl" rotWithShape="0">
              <a:srgbClr val="9AB4CC">
                <a:alpha val="30000"/>
              </a:srgbClr>
            </a:outerShdw>
          </a:effectLst>
        </p:spPr>
      </p:sp>
      <p:sp>
        <p:nvSpPr>
          <p:cNvPr id="32" name="Shape 23"/>
          <p:cNvSpPr/>
          <p:nvPr/>
        </p:nvSpPr>
        <p:spPr>
          <a:xfrm>
            <a:off x="9829800" y="3886200"/>
            <a:ext cx="777240" cy="777240"/>
          </a:xfrm>
          <a:prstGeom prst="ellipse">
            <a:avLst/>
          </a:prstGeom>
          <a:solidFill>
            <a:srgbClr val="00B4D8"/>
          </a:solidFill>
          <a:ln/>
        </p:spPr>
      </p:sp>
      <p:pic>
        <p:nvPicPr>
          <p:cNvPr id="33" name="Image 7" descr="/home/claude/pptx_build/icons/cogs_0B3D91.png"/>
          <p:cNvPicPr>
            <a:picLocks noChangeAspect="1"/>
          </p:cNvPicPr>
          <p:nvPr/>
        </p:nvPicPr>
        <p:blipFill>
          <a:blip r:embed="rId10"/>
          <a:stretch>
            <a:fillRect/>
          </a:stretch>
        </p:blipFill>
        <p:spPr>
          <a:xfrm>
            <a:off x="9923069" y="3979469"/>
            <a:ext cx="590702" cy="590702"/>
          </a:xfrm>
          <a:prstGeom prst="rect">
            <a:avLst/>
          </a:prstGeom>
        </p:spPr>
      </p:pic>
      <p:sp>
        <p:nvSpPr>
          <p:cNvPr id="34" name="Text 24"/>
          <p:cNvSpPr/>
          <p:nvPr/>
        </p:nvSpPr>
        <p:spPr>
          <a:xfrm>
            <a:off x="9052560" y="4846320"/>
            <a:ext cx="2331720" cy="777240"/>
          </a:xfrm>
          <a:prstGeom prst="rect">
            <a:avLst/>
          </a:prstGeom>
          <a:noFill/>
          <a:ln/>
        </p:spPr>
        <p:txBody>
          <a:bodyPr wrap="square"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Low Deployment Cost</a:t>
            </a:r>
            <a:endParaRPr lang="en-US" sz="1300" dirty="0"/>
          </a:p>
        </p:txBody>
      </p:sp>
      <p:sp>
        <p:nvSpPr>
          <p:cNvPr id="36" name="Text 26"/>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6B8CA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640080"/>
          </a:xfrm>
          <a:prstGeom prst="rect">
            <a:avLst/>
          </a:prstGeom>
          <a:noFill/>
          <a:ln/>
        </p:spPr>
        <p:txBody>
          <a:bodyPr wrap="square" rtlCol="0" anchor="ctr"/>
          <a:lstStyle/>
          <a:p>
            <a:pPr marL="0" indent="0" algn="l">
              <a:buNone/>
            </a:pPr>
            <a:r>
              <a:rPr lang="en-US" sz="3000" b="1" dirty="0">
                <a:solidFill>
                  <a:srgbClr val="0B3D91"/>
                </a:solidFill>
                <a:latin typeface="Cambria" pitchFamily="34" charset="0"/>
                <a:ea typeface="Cambria" pitchFamily="34" charset="-122"/>
                <a:cs typeface="Cambria" pitchFamily="34" charset="-120"/>
              </a:rPr>
              <a:t>Future Enhancements</a:t>
            </a:r>
            <a:endParaRPr lang="en-US" sz="3000" dirty="0"/>
          </a:p>
        </p:txBody>
      </p:sp>
      <p:sp>
        <p:nvSpPr>
          <p:cNvPr id="3" name="Shape 1"/>
          <p:cNvSpPr/>
          <p:nvPr/>
        </p:nvSpPr>
        <p:spPr>
          <a:xfrm>
            <a:off x="548640" y="1234440"/>
            <a:ext cx="3566160" cy="1417320"/>
          </a:xfrm>
          <a:prstGeom prst="roundRect">
            <a:avLst>
              <a:gd name="adj" fmla="val 7742"/>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4" name="Shape 2"/>
          <p:cNvSpPr/>
          <p:nvPr/>
        </p:nvSpPr>
        <p:spPr>
          <a:xfrm>
            <a:off x="777240" y="1600200"/>
            <a:ext cx="685800" cy="685800"/>
          </a:xfrm>
          <a:prstGeom prst="ellipse">
            <a:avLst/>
          </a:prstGeom>
          <a:solidFill>
            <a:srgbClr val="0B3D91"/>
          </a:solidFill>
          <a:ln/>
        </p:spPr>
      </p:sp>
      <p:pic>
        <p:nvPicPr>
          <p:cNvPr id="5" name="Image 0" descr="/home/claude/pptx_build/icons/sync_FFFFFF.png"/>
          <p:cNvPicPr>
            <a:picLocks noChangeAspect="1"/>
          </p:cNvPicPr>
          <p:nvPr/>
        </p:nvPicPr>
        <p:blipFill>
          <a:blip r:embed="rId3"/>
          <a:stretch>
            <a:fillRect/>
          </a:stretch>
        </p:blipFill>
        <p:spPr>
          <a:xfrm>
            <a:off x="859536" y="1682496"/>
            <a:ext cx="521208" cy="521208"/>
          </a:xfrm>
          <a:prstGeom prst="rect">
            <a:avLst/>
          </a:prstGeom>
        </p:spPr>
      </p:pic>
      <p:sp>
        <p:nvSpPr>
          <p:cNvPr id="6" name="Text 3"/>
          <p:cNvSpPr/>
          <p:nvPr/>
        </p:nvSpPr>
        <p:spPr>
          <a:xfrm>
            <a:off x="1600200" y="1234440"/>
            <a:ext cx="2331720" cy="1417320"/>
          </a:xfrm>
          <a:prstGeom prst="rect">
            <a:avLst/>
          </a:prstGeom>
          <a:noFill/>
          <a:ln/>
        </p:spPr>
        <p:txBody>
          <a:bodyPr wrap="square" rtlCol="0" anchor="ctr"/>
          <a:lstStyle/>
          <a:p>
            <a:pPr marL="0" indent="0">
              <a:buNone/>
            </a:pPr>
            <a:r>
              <a:rPr lang="en-US" sz="1300" b="1" dirty="0">
                <a:solidFill>
                  <a:srgbClr val="0B3D91"/>
                </a:solidFill>
                <a:latin typeface="Calibri" pitchFamily="34" charset="0"/>
                <a:ea typeface="Calibri" pitchFamily="34" charset="-122"/>
                <a:cs typeface="Calibri" pitchFamily="34" charset="-120"/>
              </a:rPr>
              <a:t>Dynamic LRU Cache</a:t>
            </a:r>
            <a:endParaRPr lang="en-US" sz="1300" dirty="0"/>
          </a:p>
        </p:txBody>
      </p:sp>
      <p:sp>
        <p:nvSpPr>
          <p:cNvPr id="7" name="Shape 4"/>
          <p:cNvSpPr/>
          <p:nvPr/>
        </p:nvSpPr>
        <p:spPr>
          <a:xfrm>
            <a:off x="4297680" y="1234440"/>
            <a:ext cx="3566160" cy="1417320"/>
          </a:xfrm>
          <a:prstGeom prst="roundRect">
            <a:avLst>
              <a:gd name="adj" fmla="val 7742"/>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8" name="Shape 5"/>
          <p:cNvSpPr/>
          <p:nvPr/>
        </p:nvSpPr>
        <p:spPr>
          <a:xfrm>
            <a:off x="4526280" y="1600200"/>
            <a:ext cx="685800" cy="685800"/>
          </a:xfrm>
          <a:prstGeom prst="ellipse">
            <a:avLst/>
          </a:prstGeom>
          <a:solidFill>
            <a:srgbClr val="2E86C1"/>
          </a:solidFill>
          <a:ln/>
        </p:spPr>
      </p:sp>
      <p:pic>
        <p:nvPicPr>
          <p:cNvPr id="9" name="Image 1" descr="/home/claude/pptx_build/icons/layers_FFFFFF.png"/>
          <p:cNvPicPr>
            <a:picLocks noChangeAspect="1"/>
          </p:cNvPicPr>
          <p:nvPr/>
        </p:nvPicPr>
        <p:blipFill>
          <a:blip r:embed="rId4"/>
          <a:stretch>
            <a:fillRect/>
          </a:stretch>
        </p:blipFill>
        <p:spPr>
          <a:xfrm>
            <a:off x="4608576" y="1682496"/>
            <a:ext cx="521208" cy="521208"/>
          </a:xfrm>
          <a:prstGeom prst="rect">
            <a:avLst/>
          </a:prstGeom>
        </p:spPr>
      </p:pic>
      <p:sp>
        <p:nvSpPr>
          <p:cNvPr id="10" name="Text 6"/>
          <p:cNvSpPr/>
          <p:nvPr/>
        </p:nvSpPr>
        <p:spPr>
          <a:xfrm>
            <a:off x="5349240" y="1234440"/>
            <a:ext cx="2331720" cy="1417320"/>
          </a:xfrm>
          <a:prstGeom prst="rect">
            <a:avLst/>
          </a:prstGeom>
          <a:noFill/>
          <a:ln/>
        </p:spPr>
        <p:txBody>
          <a:bodyPr wrap="square" rtlCol="0" anchor="ctr"/>
          <a:lstStyle/>
          <a:p>
            <a:pPr marL="0" indent="0">
              <a:buNone/>
            </a:pPr>
            <a:r>
              <a:rPr lang="en-US" sz="1300" b="1" dirty="0">
                <a:solidFill>
                  <a:srgbClr val="0B3D91"/>
                </a:solidFill>
                <a:latin typeface="Calibri" pitchFamily="34" charset="0"/>
                <a:ea typeface="Calibri" pitchFamily="34" charset="-122"/>
                <a:cs typeface="Calibri" pitchFamily="34" charset="-120"/>
              </a:rPr>
              <a:t>LFU Cache Replacement</a:t>
            </a:r>
            <a:endParaRPr lang="en-US" sz="1300" dirty="0"/>
          </a:p>
        </p:txBody>
      </p:sp>
      <p:sp>
        <p:nvSpPr>
          <p:cNvPr id="11" name="Shape 7"/>
          <p:cNvSpPr/>
          <p:nvPr/>
        </p:nvSpPr>
        <p:spPr>
          <a:xfrm>
            <a:off x="8046720" y="1234440"/>
            <a:ext cx="3566160" cy="1417320"/>
          </a:xfrm>
          <a:prstGeom prst="roundRect">
            <a:avLst>
              <a:gd name="adj" fmla="val 7742"/>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12" name="Shape 8"/>
          <p:cNvSpPr/>
          <p:nvPr/>
        </p:nvSpPr>
        <p:spPr>
          <a:xfrm>
            <a:off x="8275320" y="1600200"/>
            <a:ext cx="685800" cy="685800"/>
          </a:xfrm>
          <a:prstGeom prst="ellipse">
            <a:avLst/>
          </a:prstGeom>
          <a:solidFill>
            <a:srgbClr val="00B4D8"/>
          </a:solidFill>
          <a:ln/>
        </p:spPr>
      </p:sp>
      <p:pic>
        <p:nvPicPr>
          <p:cNvPr id="13" name="Image 2" descr="/home/claude/pptx_build/icons/cogs_FFFFFF.png"/>
          <p:cNvPicPr>
            <a:picLocks noChangeAspect="1"/>
          </p:cNvPicPr>
          <p:nvPr/>
        </p:nvPicPr>
        <p:blipFill>
          <a:blip r:embed="rId5"/>
          <a:stretch>
            <a:fillRect/>
          </a:stretch>
        </p:blipFill>
        <p:spPr>
          <a:xfrm>
            <a:off x="8357616" y="1682496"/>
            <a:ext cx="521208" cy="521208"/>
          </a:xfrm>
          <a:prstGeom prst="rect">
            <a:avLst/>
          </a:prstGeom>
        </p:spPr>
      </p:pic>
      <p:sp>
        <p:nvSpPr>
          <p:cNvPr id="14" name="Text 9"/>
          <p:cNvSpPr/>
          <p:nvPr/>
        </p:nvSpPr>
        <p:spPr>
          <a:xfrm>
            <a:off x="9098280" y="1234440"/>
            <a:ext cx="2331720" cy="1417320"/>
          </a:xfrm>
          <a:prstGeom prst="rect">
            <a:avLst/>
          </a:prstGeom>
          <a:noFill/>
          <a:ln/>
        </p:spPr>
        <p:txBody>
          <a:bodyPr wrap="square" rtlCol="0" anchor="ctr"/>
          <a:lstStyle/>
          <a:p>
            <a:pPr marL="0" indent="0">
              <a:buNone/>
            </a:pPr>
            <a:r>
              <a:rPr lang="en-US" sz="1300" b="1" dirty="0">
                <a:solidFill>
                  <a:srgbClr val="0B3D91"/>
                </a:solidFill>
                <a:latin typeface="Calibri" pitchFamily="34" charset="0"/>
                <a:ea typeface="Calibri" pitchFamily="34" charset="-122"/>
                <a:cs typeface="Calibri" pitchFamily="34" charset="-120"/>
              </a:rPr>
              <a:t>Docker Containerization</a:t>
            </a:r>
            <a:endParaRPr lang="en-US" sz="1300" dirty="0"/>
          </a:p>
        </p:txBody>
      </p:sp>
      <p:sp>
        <p:nvSpPr>
          <p:cNvPr id="15" name="Shape 10"/>
          <p:cNvSpPr/>
          <p:nvPr/>
        </p:nvSpPr>
        <p:spPr>
          <a:xfrm>
            <a:off x="548640" y="2852928"/>
            <a:ext cx="3566160" cy="1417320"/>
          </a:xfrm>
          <a:prstGeom prst="roundRect">
            <a:avLst>
              <a:gd name="adj" fmla="val 7742"/>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16" name="Shape 11"/>
          <p:cNvSpPr/>
          <p:nvPr/>
        </p:nvSpPr>
        <p:spPr>
          <a:xfrm>
            <a:off x="777240" y="3218688"/>
            <a:ext cx="685800" cy="685800"/>
          </a:xfrm>
          <a:prstGeom prst="ellipse">
            <a:avLst/>
          </a:prstGeom>
          <a:solidFill>
            <a:srgbClr val="0B3D91"/>
          </a:solidFill>
          <a:ln/>
        </p:spPr>
      </p:sp>
      <p:pic>
        <p:nvPicPr>
          <p:cNvPr id="17" name="Image 3" descr="/home/claude/pptx_build/icons/lock_FFFFFF.png"/>
          <p:cNvPicPr>
            <a:picLocks noChangeAspect="1"/>
          </p:cNvPicPr>
          <p:nvPr/>
        </p:nvPicPr>
        <p:blipFill>
          <a:blip r:embed="rId6"/>
          <a:stretch>
            <a:fillRect/>
          </a:stretch>
        </p:blipFill>
        <p:spPr>
          <a:xfrm>
            <a:off x="859536" y="3300984"/>
            <a:ext cx="521208" cy="521208"/>
          </a:xfrm>
          <a:prstGeom prst="rect">
            <a:avLst/>
          </a:prstGeom>
        </p:spPr>
      </p:pic>
      <p:sp>
        <p:nvSpPr>
          <p:cNvPr id="18" name="Text 12"/>
          <p:cNvSpPr/>
          <p:nvPr/>
        </p:nvSpPr>
        <p:spPr>
          <a:xfrm>
            <a:off x="1600200" y="2852928"/>
            <a:ext cx="2331720" cy="1417320"/>
          </a:xfrm>
          <a:prstGeom prst="rect">
            <a:avLst/>
          </a:prstGeom>
          <a:noFill/>
          <a:ln/>
        </p:spPr>
        <p:txBody>
          <a:bodyPr wrap="square" rtlCol="0" anchor="ctr"/>
          <a:lstStyle/>
          <a:p>
            <a:pPr marL="0" indent="0">
              <a:buNone/>
            </a:pPr>
            <a:r>
              <a:rPr lang="en-US" sz="1300" b="1" dirty="0">
                <a:solidFill>
                  <a:srgbClr val="0B3D91"/>
                </a:solidFill>
                <a:latin typeface="Calibri" pitchFamily="34" charset="0"/>
                <a:ea typeface="Calibri" pitchFamily="34" charset="-122"/>
                <a:cs typeface="Calibri" pitchFamily="34" charset="-120"/>
              </a:rPr>
              <a:t>HTTPS / TLS Security</a:t>
            </a:r>
            <a:endParaRPr lang="en-US" sz="1300" dirty="0"/>
          </a:p>
        </p:txBody>
      </p:sp>
      <p:sp>
        <p:nvSpPr>
          <p:cNvPr id="19" name="Shape 13"/>
          <p:cNvSpPr/>
          <p:nvPr/>
        </p:nvSpPr>
        <p:spPr>
          <a:xfrm>
            <a:off x="4297680" y="2852928"/>
            <a:ext cx="3566160" cy="1417320"/>
          </a:xfrm>
          <a:prstGeom prst="roundRect">
            <a:avLst>
              <a:gd name="adj" fmla="val 7742"/>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20" name="Shape 14"/>
          <p:cNvSpPr/>
          <p:nvPr/>
        </p:nvSpPr>
        <p:spPr>
          <a:xfrm>
            <a:off x="4526280" y="3218688"/>
            <a:ext cx="685800" cy="685800"/>
          </a:xfrm>
          <a:prstGeom prst="ellipse">
            <a:avLst/>
          </a:prstGeom>
          <a:solidFill>
            <a:srgbClr val="2E86C1"/>
          </a:solidFill>
          <a:ln/>
        </p:spPr>
      </p:sp>
      <p:pic>
        <p:nvPicPr>
          <p:cNvPr id="21" name="Image 4" descr="/home/claude/pptx_build/icons/sitemap_FFFFFF.png"/>
          <p:cNvPicPr>
            <a:picLocks noChangeAspect="1"/>
          </p:cNvPicPr>
          <p:nvPr/>
        </p:nvPicPr>
        <p:blipFill>
          <a:blip r:embed="rId7"/>
          <a:stretch>
            <a:fillRect/>
          </a:stretch>
        </p:blipFill>
        <p:spPr>
          <a:xfrm>
            <a:off x="4608576" y="3300984"/>
            <a:ext cx="521208" cy="521208"/>
          </a:xfrm>
          <a:prstGeom prst="rect">
            <a:avLst/>
          </a:prstGeom>
        </p:spPr>
      </p:pic>
      <p:sp>
        <p:nvSpPr>
          <p:cNvPr id="22" name="Text 15"/>
          <p:cNvSpPr/>
          <p:nvPr/>
        </p:nvSpPr>
        <p:spPr>
          <a:xfrm>
            <a:off x="5349240" y="2852928"/>
            <a:ext cx="2331720" cy="1417320"/>
          </a:xfrm>
          <a:prstGeom prst="rect">
            <a:avLst/>
          </a:prstGeom>
          <a:noFill/>
          <a:ln/>
        </p:spPr>
        <p:txBody>
          <a:bodyPr wrap="square" rtlCol="0" anchor="ctr"/>
          <a:lstStyle/>
          <a:p>
            <a:pPr marL="0" indent="0">
              <a:buNone/>
            </a:pPr>
            <a:r>
              <a:rPr lang="en-US" sz="1300" b="1" dirty="0">
                <a:solidFill>
                  <a:srgbClr val="0B3D91"/>
                </a:solidFill>
                <a:latin typeface="Calibri" pitchFamily="34" charset="0"/>
                <a:ea typeface="Calibri" pitchFamily="34" charset="-122"/>
                <a:cs typeface="Calibri" pitchFamily="34" charset="-120"/>
              </a:rPr>
              <a:t>Load Balancer</a:t>
            </a:r>
            <a:endParaRPr lang="en-US" sz="1300" dirty="0"/>
          </a:p>
        </p:txBody>
      </p:sp>
      <p:sp>
        <p:nvSpPr>
          <p:cNvPr id="23" name="Shape 16"/>
          <p:cNvSpPr/>
          <p:nvPr/>
        </p:nvSpPr>
        <p:spPr>
          <a:xfrm>
            <a:off x="8046720" y="2852928"/>
            <a:ext cx="3566160" cy="1417320"/>
          </a:xfrm>
          <a:prstGeom prst="roundRect">
            <a:avLst>
              <a:gd name="adj" fmla="val 7742"/>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24" name="Shape 17"/>
          <p:cNvSpPr/>
          <p:nvPr/>
        </p:nvSpPr>
        <p:spPr>
          <a:xfrm>
            <a:off x="8275320" y="3218688"/>
            <a:ext cx="685800" cy="685800"/>
          </a:xfrm>
          <a:prstGeom prst="ellipse">
            <a:avLst/>
          </a:prstGeom>
          <a:solidFill>
            <a:srgbClr val="00B4D8"/>
          </a:solidFill>
          <a:ln/>
        </p:spPr>
      </p:sp>
      <p:pic>
        <p:nvPicPr>
          <p:cNvPr id="25" name="Image 5" descr="/home/claude/pptx_build/icons/pin_FFFFFF.png"/>
          <p:cNvPicPr>
            <a:picLocks noChangeAspect="1"/>
          </p:cNvPicPr>
          <p:nvPr/>
        </p:nvPicPr>
        <p:blipFill>
          <a:blip r:embed="rId8"/>
          <a:stretch>
            <a:fillRect/>
          </a:stretch>
        </p:blipFill>
        <p:spPr>
          <a:xfrm>
            <a:off x="8357616" y="3300984"/>
            <a:ext cx="521208" cy="521208"/>
          </a:xfrm>
          <a:prstGeom prst="rect">
            <a:avLst/>
          </a:prstGeom>
        </p:spPr>
      </p:pic>
      <p:sp>
        <p:nvSpPr>
          <p:cNvPr id="26" name="Text 18"/>
          <p:cNvSpPr/>
          <p:nvPr/>
        </p:nvSpPr>
        <p:spPr>
          <a:xfrm>
            <a:off x="9098280" y="2852928"/>
            <a:ext cx="2331720" cy="1417320"/>
          </a:xfrm>
          <a:prstGeom prst="rect">
            <a:avLst/>
          </a:prstGeom>
          <a:noFill/>
          <a:ln/>
        </p:spPr>
        <p:txBody>
          <a:bodyPr wrap="square" rtlCol="0" anchor="ctr"/>
          <a:lstStyle/>
          <a:p>
            <a:pPr marL="0" indent="0">
              <a:buNone/>
            </a:pPr>
            <a:r>
              <a:rPr lang="en-US" sz="1300" b="1" dirty="0">
                <a:solidFill>
                  <a:srgbClr val="0B3D91"/>
                </a:solidFill>
                <a:latin typeface="Calibri" pitchFamily="34" charset="0"/>
                <a:ea typeface="Calibri" pitchFamily="34" charset="-122"/>
                <a:cs typeface="Calibri" pitchFamily="34" charset="-120"/>
              </a:rPr>
              <a:t>DNS-based Edge Selection</a:t>
            </a:r>
            <a:endParaRPr lang="en-US" sz="1300" dirty="0"/>
          </a:p>
        </p:txBody>
      </p:sp>
      <p:sp>
        <p:nvSpPr>
          <p:cNvPr id="27" name="Shape 19"/>
          <p:cNvSpPr/>
          <p:nvPr/>
        </p:nvSpPr>
        <p:spPr>
          <a:xfrm>
            <a:off x="548640" y="4471416"/>
            <a:ext cx="3566160" cy="1417320"/>
          </a:xfrm>
          <a:prstGeom prst="roundRect">
            <a:avLst>
              <a:gd name="adj" fmla="val 7742"/>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28" name="Shape 20"/>
          <p:cNvSpPr/>
          <p:nvPr/>
        </p:nvSpPr>
        <p:spPr>
          <a:xfrm>
            <a:off x="777240" y="4837176"/>
            <a:ext cx="685800" cy="685800"/>
          </a:xfrm>
          <a:prstGeom prst="ellipse">
            <a:avLst/>
          </a:prstGeom>
          <a:solidFill>
            <a:srgbClr val="0B3D91"/>
          </a:solidFill>
          <a:ln/>
        </p:spPr>
      </p:sp>
      <p:pic>
        <p:nvPicPr>
          <p:cNvPr id="29" name="Image 6" descr="/home/claude/pptx_build/icons/cloud_FFFFFF.png"/>
          <p:cNvPicPr>
            <a:picLocks noChangeAspect="1"/>
          </p:cNvPicPr>
          <p:nvPr/>
        </p:nvPicPr>
        <p:blipFill>
          <a:blip r:embed="rId9"/>
          <a:stretch>
            <a:fillRect/>
          </a:stretch>
        </p:blipFill>
        <p:spPr>
          <a:xfrm>
            <a:off x="859536" y="4919472"/>
            <a:ext cx="521208" cy="521208"/>
          </a:xfrm>
          <a:prstGeom prst="rect">
            <a:avLst/>
          </a:prstGeom>
        </p:spPr>
      </p:pic>
      <p:sp>
        <p:nvSpPr>
          <p:cNvPr id="30" name="Text 21"/>
          <p:cNvSpPr/>
          <p:nvPr/>
        </p:nvSpPr>
        <p:spPr>
          <a:xfrm>
            <a:off x="1600200" y="4471416"/>
            <a:ext cx="2331720" cy="1417320"/>
          </a:xfrm>
          <a:prstGeom prst="rect">
            <a:avLst/>
          </a:prstGeom>
          <a:noFill/>
          <a:ln/>
        </p:spPr>
        <p:txBody>
          <a:bodyPr wrap="square" rtlCol="0" anchor="ctr"/>
          <a:lstStyle/>
          <a:p>
            <a:pPr marL="0" indent="0">
              <a:buNone/>
            </a:pPr>
            <a:r>
              <a:rPr lang="en-US" sz="1300" b="1" dirty="0">
                <a:solidFill>
                  <a:srgbClr val="0B3D91"/>
                </a:solidFill>
                <a:latin typeface="Calibri" pitchFamily="34" charset="0"/>
                <a:ea typeface="Calibri" pitchFamily="34" charset="-122"/>
                <a:cs typeface="Calibri" pitchFamily="34" charset="-120"/>
              </a:rPr>
              <a:t>Cloud Deployment</a:t>
            </a:r>
            <a:endParaRPr lang="en-US" sz="1300" dirty="0"/>
          </a:p>
        </p:txBody>
      </p:sp>
      <p:sp>
        <p:nvSpPr>
          <p:cNvPr id="31" name="Shape 22"/>
          <p:cNvSpPr/>
          <p:nvPr/>
        </p:nvSpPr>
        <p:spPr>
          <a:xfrm>
            <a:off x="4297680" y="4471416"/>
            <a:ext cx="3566160" cy="1417320"/>
          </a:xfrm>
          <a:prstGeom prst="roundRect">
            <a:avLst>
              <a:gd name="adj" fmla="val 7742"/>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32" name="Shape 23"/>
          <p:cNvSpPr/>
          <p:nvPr/>
        </p:nvSpPr>
        <p:spPr>
          <a:xfrm>
            <a:off x="4526280" y="4837176"/>
            <a:ext cx="685800" cy="685800"/>
          </a:xfrm>
          <a:prstGeom prst="ellipse">
            <a:avLst/>
          </a:prstGeom>
          <a:solidFill>
            <a:srgbClr val="2E86C1"/>
          </a:solidFill>
          <a:ln/>
        </p:spPr>
      </p:sp>
      <p:pic>
        <p:nvPicPr>
          <p:cNvPr id="33" name="Image 7" descr="/home/claude/pptx_build/icons/chart_FFFFFF.png"/>
          <p:cNvPicPr>
            <a:picLocks noChangeAspect="1"/>
          </p:cNvPicPr>
          <p:nvPr/>
        </p:nvPicPr>
        <p:blipFill>
          <a:blip r:embed="rId10"/>
          <a:stretch>
            <a:fillRect/>
          </a:stretch>
        </p:blipFill>
        <p:spPr>
          <a:xfrm>
            <a:off x="4608576" y="4919472"/>
            <a:ext cx="521208" cy="521208"/>
          </a:xfrm>
          <a:prstGeom prst="rect">
            <a:avLst/>
          </a:prstGeom>
        </p:spPr>
      </p:pic>
      <p:sp>
        <p:nvSpPr>
          <p:cNvPr id="34" name="Text 24"/>
          <p:cNvSpPr/>
          <p:nvPr/>
        </p:nvSpPr>
        <p:spPr>
          <a:xfrm>
            <a:off x="5349240" y="4471416"/>
            <a:ext cx="2331720" cy="1417320"/>
          </a:xfrm>
          <a:prstGeom prst="rect">
            <a:avLst/>
          </a:prstGeom>
          <a:noFill/>
          <a:ln/>
        </p:spPr>
        <p:txBody>
          <a:bodyPr wrap="square" rtlCol="0" anchor="ctr"/>
          <a:lstStyle/>
          <a:p>
            <a:pPr marL="0" indent="0">
              <a:buNone/>
            </a:pPr>
            <a:r>
              <a:rPr lang="en-US" sz="1300" b="1" dirty="0">
                <a:solidFill>
                  <a:srgbClr val="0B3D91"/>
                </a:solidFill>
                <a:latin typeface="Calibri" pitchFamily="34" charset="0"/>
                <a:ea typeface="Calibri" pitchFamily="34" charset="-122"/>
                <a:cs typeface="Calibri" pitchFamily="34" charset="-120"/>
              </a:rPr>
              <a:t>Performance Dashboard</a:t>
            </a:r>
            <a:endParaRPr lang="en-US" sz="1300" dirty="0"/>
          </a:p>
        </p:txBody>
      </p:sp>
      <p:sp>
        <p:nvSpPr>
          <p:cNvPr id="35" name="Shape 25"/>
          <p:cNvSpPr/>
          <p:nvPr/>
        </p:nvSpPr>
        <p:spPr>
          <a:xfrm>
            <a:off x="8046720" y="4471416"/>
            <a:ext cx="3566160" cy="1417320"/>
          </a:xfrm>
          <a:prstGeom prst="roundRect">
            <a:avLst>
              <a:gd name="adj" fmla="val 7742"/>
            </a:avLst>
          </a:prstGeom>
          <a:solidFill>
            <a:srgbClr val="FFFFFF"/>
          </a:solidFill>
          <a:ln w="12700">
            <a:solidFill>
              <a:srgbClr val="DCE6F0"/>
            </a:solidFill>
            <a:prstDash val="solid"/>
          </a:ln>
          <a:effectLst>
            <a:outerShdw blurRad="63500" dist="25400" dir="5400000" algn="bl" rotWithShape="0">
              <a:srgbClr val="9AB4CC">
                <a:alpha val="30000"/>
              </a:srgbClr>
            </a:outerShdw>
          </a:effectLst>
        </p:spPr>
      </p:sp>
      <p:sp>
        <p:nvSpPr>
          <p:cNvPr id="36" name="Shape 26"/>
          <p:cNvSpPr/>
          <p:nvPr/>
        </p:nvSpPr>
        <p:spPr>
          <a:xfrm>
            <a:off x="8275320" y="4837176"/>
            <a:ext cx="685800" cy="685800"/>
          </a:xfrm>
          <a:prstGeom prst="ellipse">
            <a:avLst/>
          </a:prstGeom>
          <a:solidFill>
            <a:srgbClr val="00B4D8"/>
          </a:solidFill>
          <a:ln/>
        </p:spPr>
      </p:sp>
      <p:pic>
        <p:nvPicPr>
          <p:cNvPr id="37" name="Image 8" descr="/home/claude/pptx_build/icons/robot_FFFFFF.png"/>
          <p:cNvPicPr>
            <a:picLocks noChangeAspect="1"/>
          </p:cNvPicPr>
          <p:nvPr/>
        </p:nvPicPr>
        <p:blipFill>
          <a:blip r:embed="rId11"/>
          <a:stretch>
            <a:fillRect/>
          </a:stretch>
        </p:blipFill>
        <p:spPr>
          <a:xfrm>
            <a:off x="8357616" y="4919472"/>
            <a:ext cx="521208" cy="521208"/>
          </a:xfrm>
          <a:prstGeom prst="rect">
            <a:avLst/>
          </a:prstGeom>
        </p:spPr>
      </p:pic>
      <p:sp>
        <p:nvSpPr>
          <p:cNvPr id="38" name="Text 27"/>
          <p:cNvSpPr/>
          <p:nvPr/>
        </p:nvSpPr>
        <p:spPr>
          <a:xfrm>
            <a:off x="9098280" y="4471416"/>
            <a:ext cx="2331720" cy="1417320"/>
          </a:xfrm>
          <a:prstGeom prst="rect">
            <a:avLst/>
          </a:prstGeom>
          <a:noFill/>
          <a:ln/>
        </p:spPr>
        <p:txBody>
          <a:bodyPr wrap="square" rtlCol="0" anchor="ctr"/>
          <a:lstStyle/>
          <a:p>
            <a:pPr marL="0" indent="0">
              <a:buNone/>
            </a:pPr>
            <a:r>
              <a:rPr lang="en-US" sz="1300" b="1" dirty="0">
                <a:solidFill>
                  <a:srgbClr val="0B3D91"/>
                </a:solidFill>
                <a:latin typeface="Calibri" pitchFamily="34" charset="0"/>
                <a:ea typeface="Calibri" pitchFamily="34" charset="-122"/>
                <a:cs typeface="Calibri" pitchFamily="34" charset="-120"/>
              </a:rPr>
              <a:t>AI-based Cache Prediction</a:t>
            </a:r>
            <a:endParaRPr lang="en-US" sz="1300" dirty="0"/>
          </a:p>
        </p:txBody>
      </p:sp>
      <p:sp>
        <p:nvSpPr>
          <p:cNvPr id="40" name="Text 29"/>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6B8CA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3D91"/>
        </a:solidFill>
        <a:effectLst/>
      </p:bgPr>
    </p:bg>
    <p:spTree>
      <p:nvGrpSpPr>
        <p:cNvPr id="1" name=""/>
        <p:cNvGrpSpPr/>
        <p:nvPr/>
      </p:nvGrpSpPr>
      <p:grpSpPr>
        <a:xfrm>
          <a:off x="0" y="0"/>
          <a:ext cx="0" cy="0"/>
          <a:chOff x="0" y="0"/>
          <a:chExt cx="0" cy="0"/>
        </a:xfrm>
      </p:grpSpPr>
      <p:sp>
        <p:nvSpPr>
          <p:cNvPr id="2" name="Shape 0"/>
          <p:cNvSpPr/>
          <p:nvPr/>
        </p:nvSpPr>
        <p:spPr>
          <a:xfrm>
            <a:off x="8961120" y="-1645920"/>
            <a:ext cx="5029200" cy="5029200"/>
          </a:xfrm>
          <a:prstGeom prst="ellipse">
            <a:avLst/>
          </a:prstGeom>
          <a:solidFill>
            <a:srgbClr val="2E86C1">
              <a:alpha val="30000"/>
            </a:srgbClr>
          </a:solidFill>
          <a:ln/>
        </p:spPr>
      </p:sp>
      <p:sp>
        <p:nvSpPr>
          <p:cNvPr id="3" name="Shape 1"/>
          <p:cNvSpPr/>
          <p:nvPr/>
        </p:nvSpPr>
        <p:spPr>
          <a:xfrm>
            <a:off x="-1463040" y="4389120"/>
            <a:ext cx="3840480" cy="3840480"/>
          </a:xfrm>
          <a:prstGeom prst="ellipse">
            <a:avLst/>
          </a:prstGeom>
          <a:solidFill>
            <a:srgbClr val="00B4D8">
              <a:alpha val="22000"/>
            </a:srgbClr>
          </a:solidFill>
          <a:ln/>
        </p:spPr>
      </p:sp>
      <p:sp>
        <p:nvSpPr>
          <p:cNvPr id="4" name="Text 2"/>
          <p:cNvSpPr/>
          <p:nvPr/>
        </p:nvSpPr>
        <p:spPr>
          <a:xfrm>
            <a:off x="731520" y="640080"/>
            <a:ext cx="73152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5" name="Shape 3"/>
          <p:cNvSpPr/>
          <p:nvPr/>
        </p:nvSpPr>
        <p:spPr>
          <a:xfrm>
            <a:off x="731520" y="1691640"/>
            <a:ext cx="502920" cy="502920"/>
          </a:xfrm>
          <a:prstGeom prst="ellipse">
            <a:avLst/>
          </a:prstGeom>
          <a:solidFill>
            <a:srgbClr val="00B4D8"/>
          </a:solidFill>
          <a:ln/>
        </p:spPr>
      </p:sp>
      <p:pic>
        <p:nvPicPr>
          <p:cNvPr id="6" name="Image 0" descr="/home/claude/pptx_build/icons/check_0B3D91.png"/>
          <p:cNvPicPr>
            <a:picLocks noChangeAspect="1"/>
          </p:cNvPicPr>
          <p:nvPr/>
        </p:nvPicPr>
        <p:blipFill>
          <a:blip r:embed="rId3"/>
          <a:stretch>
            <a:fillRect/>
          </a:stretch>
        </p:blipFill>
        <p:spPr>
          <a:xfrm>
            <a:off x="791870" y="1751990"/>
            <a:ext cx="382219" cy="382219"/>
          </a:xfrm>
          <a:prstGeom prst="rect">
            <a:avLst/>
          </a:prstGeom>
        </p:spPr>
      </p:pic>
      <p:sp>
        <p:nvSpPr>
          <p:cNvPr id="7" name="Text 4"/>
          <p:cNvSpPr/>
          <p:nvPr/>
        </p:nvSpPr>
        <p:spPr>
          <a:xfrm>
            <a:off x="1417320" y="1618488"/>
            <a:ext cx="9875520" cy="77724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A lightweight Edge CDN was successfully designed and implemented using one Global Server and three Edge Servers.</a:t>
            </a:r>
            <a:endParaRPr lang="en-US" sz="1450" dirty="0"/>
          </a:p>
        </p:txBody>
      </p:sp>
      <p:sp>
        <p:nvSpPr>
          <p:cNvPr id="8" name="Shape 5"/>
          <p:cNvSpPr/>
          <p:nvPr/>
        </p:nvSpPr>
        <p:spPr>
          <a:xfrm>
            <a:off x="731520" y="2606040"/>
            <a:ext cx="502920" cy="502920"/>
          </a:xfrm>
          <a:prstGeom prst="ellipse">
            <a:avLst/>
          </a:prstGeom>
          <a:solidFill>
            <a:srgbClr val="00B4D8"/>
          </a:solidFill>
          <a:ln/>
        </p:spPr>
      </p:sp>
      <p:pic>
        <p:nvPicPr>
          <p:cNvPr id="9" name="Image 1" descr="/home/claude/pptx_build/icons/check_0B3D91.png"/>
          <p:cNvPicPr>
            <a:picLocks noChangeAspect="1"/>
          </p:cNvPicPr>
          <p:nvPr/>
        </p:nvPicPr>
        <p:blipFill>
          <a:blip r:embed="rId3"/>
          <a:stretch>
            <a:fillRect/>
          </a:stretch>
        </p:blipFill>
        <p:spPr>
          <a:xfrm>
            <a:off x="791870" y="2666390"/>
            <a:ext cx="382219" cy="382219"/>
          </a:xfrm>
          <a:prstGeom prst="rect">
            <a:avLst/>
          </a:prstGeom>
        </p:spPr>
      </p:pic>
      <p:sp>
        <p:nvSpPr>
          <p:cNvPr id="10" name="Text 6"/>
          <p:cNvSpPr/>
          <p:nvPr/>
        </p:nvSpPr>
        <p:spPr>
          <a:xfrm>
            <a:off x="1417320" y="2532888"/>
            <a:ext cx="9875520" cy="77724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HTTP-based distributed communication effectively reduced access latency and Global Server workload.</a:t>
            </a:r>
            <a:endParaRPr lang="en-US" sz="1450" dirty="0"/>
          </a:p>
        </p:txBody>
      </p:sp>
      <p:sp>
        <p:nvSpPr>
          <p:cNvPr id="11" name="Shape 7"/>
          <p:cNvSpPr/>
          <p:nvPr/>
        </p:nvSpPr>
        <p:spPr>
          <a:xfrm>
            <a:off x="731520" y="3520440"/>
            <a:ext cx="502920" cy="502920"/>
          </a:xfrm>
          <a:prstGeom prst="ellipse">
            <a:avLst/>
          </a:prstGeom>
          <a:solidFill>
            <a:srgbClr val="00B4D8"/>
          </a:solidFill>
          <a:ln/>
        </p:spPr>
      </p:sp>
      <p:pic>
        <p:nvPicPr>
          <p:cNvPr id="12" name="Image 2" descr="/home/claude/pptx_build/icons/check_0B3D91.png"/>
          <p:cNvPicPr>
            <a:picLocks noChangeAspect="1"/>
          </p:cNvPicPr>
          <p:nvPr/>
        </p:nvPicPr>
        <p:blipFill>
          <a:blip r:embed="rId3"/>
          <a:stretch>
            <a:fillRect/>
          </a:stretch>
        </p:blipFill>
        <p:spPr>
          <a:xfrm>
            <a:off x="791870" y="3580790"/>
            <a:ext cx="382219" cy="382219"/>
          </a:xfrm>
          <a:prstGeom prst="rect">
            <a:avLst/>
          </a:prstGeom>
        </p:spPr>
      </p:pic>
      <p:sp>
        <p:nvSpPr>
          <p:cNvPr id="13" name="Text 8"/>
          <p:cNvSpPr/>
          <p:nvPr/>
        </p:nvSpPr>
        <p:spPr>
          <a:xfrm>
            <a:off x="1417320" y="3447288"/>
            <a:ext cx="9875520" cy="77724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The cache hit / cache miss mechanism demonstrated efficient, scalable content delivery across multiple clients.</a:t>
            </a:r>
            <a:endParaRPr lang="en-US" sz="1450" dirty="0"/>
          </a:p>
        </p:txBody>
      </p:sp>
      <p:sp>
        <p:nvSpPr>
          <p:cNvPr id="14" name="Shape 9"/>
          <p:cNvSpPr/>
          <p:nvPr/>
        </p:nvSpPr>
        <p:spPr>
          <a:xfrm>
            <a:off x="731520" y="4434840"/>
            <a:ext cx="502920" cy="502920"/>
          </a:xfrm>
          <a:prstGeom prst="ellipse">
            <a:avLst/>
          </a:prstGeom>
          <a:solidFill>
            <a:srgbClr val="00B4D8"/>
          </a:solidFill>
          <a:ln/>
        </p:spPr>
      </p:sp>
      <p:pic>
        <p:nvPicPr>
          <p:cNvPr id="15" name="Image 3" descr="/home/claude/pptx_build/icons/check_0B3D91.png"/>
          <p:cNvPicPr>
            <a:picLocks noChangeAspect="1"/>
          </p:cNvPicPr>
          <p:nvPr/>
        </p:nvPicPr>
        <p:blipFill>
          <a:blip r:embed="rId3"/>
          <a:stretch>
            <a:fillRect/>
          </a:stretch>
        </p:blipFill>
        <p:spPr>
          <a:xfrm>
            <a:off x="791870" y="4495190"/>
            <a:ext cx="382219" cy="382219"/>
          </a:xfrm>
          <a:prstGeom prst="rect">
            <a:avLst/>
          </a:prstGeom>
        </p:spPr>
      </p:pic>
      <p:sp>
        <p:nvSpPr>
          <p:cNvPr id="16" name="Text 10"/>
          <p:cNvSpPr/>
          <p:nvPr/>
        </p:nvSpPr>
        <p:spPr>
          <a:xfrm>
            <a:off x="1417320" y="4361688"/>
            <a:ext cx="9875520" cy="77724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The project establishes a strong foundation for future enhancements such as intelligent caching, load balancing, and secure cloud deployment.</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1580</Words>
  <Application>Microsoft Office PowerPoint</Application>
  <PresentationFormat>Widescreen</PresentationFormat>
  <Paragraphs>213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Satya Teja</cp:lastModifiedBy>
  <cp:revision>2</cp:revision>
  <dcterms:created xsi:type="dcterms:W3CDTF">2026-08-05T14:52:31Z</dcterms:created>
  <dcterms:modified xsi:type="dcterms:W3CDTF">2026-08-05T14:57:42Z</dcterms:modified>
</cp:coreProperties>
</file>